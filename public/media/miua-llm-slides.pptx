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7" r:id="rId2"/>
    <p:sldId id="852" r:id="rId3"/>
    <p:sldId id="853" r:id="rId4"/>
    <p:sldId id="854" r:id="rId5"/>
    <p:sldId id="855" r:id="rId6"/>
    <p:sldId id="856" r:id="rId7"/>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40B0A"/>
    <a:srgbClr val="19305C"/>
    <a:srgbClr val="069185"/>
    <a:srgbClr val="F1FCFA"/>
    <a:srgbClr val="F9FAFD"/>
    <a:srgbClr val="ECFBF9"/>
    <a:srgbClr val="D2F4FC"/>
    <a:srgbClr val="2866E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13" autoAdjust="0"/>
    <p:restoredTop sz="60899" autoAdjust="0"/>
  </p:normalViewPr>
  <p:slideViewPr>
    <p:cSldViewPr>
      <p:cViewPr>
        <p:scale>
          <a:sx n="88" d="100"/>
          <a:sy n="88" d="100"/>
        </p:scale>
        <p:origin x="768" y="176"/>
      </p:cViewPr>
      <p:guideLst>
        <p:guide orient="horz" pos="1620"/>
        <p:guide pos="2880"/>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Accuracy</c:v>
          </c:tx>
          <c:spPr>
            <a:solidFill>
              <a:srgbClr val="202D39"/>
            </a:solidFill>
          </c:spPr>
          <c:invertIfNegative val="0"/>
          <c:dPt>
            <c:idx val="0"/>
            <c:invertIfNegative val="0"/>
            <c:bubble3D val="0"/>
            <c:spPr>
              <a:solidFill>
                <a:srgbClr val="C8C8C8"/>
              </a:solidFill>
            </c:spPr>
            <c:extLst>
              <c:ext xmlns:c16="http://schemas.microsoft.com/office/drawing/2014/chart" uri="{C3380CC4-5D6E-409C-BE32-E72D297353CC}">
                <c16:uniqueId val="{00000001-2111-F745-A342-97C95A9DC957}"/>
              </c:ext>
            </c:extLst>
          </c:dPt>
          <c:dPt>
            <c:idx val="1"/>
            <c:invertIfNegative val="0"/>
            <c:bubble3D val="0"/>
            <c:spPr>
              <a:solidFill>
                <a:srgbClr val="A0A0A0"/>
              </a:solidFill>
            </c:spPr>
            <c:extLst>
              <c:ext xmlns:c16="http://schemas.microsoft.com/office/drawing/2014/chart" uri="{C3380CC4-5D6E-409C-BE32-E72D297353CC}">
                <c16:uniqueId val="{00000003-2111-F745-A342-97C95A9DC957}"/>
              </c:ext>
            </c:extLst>
          </c:dPt>
          <c:dPt>
            <c:idx val="2"/>
            <c:invertIfNegative val="0"/>
            <c:bubble3D val="0"/>
            <c:spPr>
              <a:solidFill>
                <a:srgbClr val="90C4E8"/>
              </a:solidFill>
            </c:spPr>
            <c:extLst>
              <c:ext xmlns:c16="http://schemas.microsoft.com/office/drawing/2014/chart" uri="{C3380CC4-5D6E-409C-BE32-E72D297353CC}">
                <c16:uniqueId val="{00000005-2111-F745-A342-97C95A9DC957}"/>
              </c:ext>
            </c:extLst>
          </c:dPt>
          <c:dPt>
            <c:idx val="3"/>
            <c:invertIfNegative val="0"/>
            <c:bubble3D val="0"/>
            <c:spPr>
              <a:solidFill>
                <a:srgbClr val="F5A87A"/>
              </a:solidFill>
            </c:spPr>
            <c:extLst>
              <c:ext xmlns:c16="http://schemas.microsoft.com/office/drawing/2014/chart" uri="{C3380CC4-5D6E-409C-BE32-E72D297353CC}">
                <c16:uniqueId val="{00000007-2111-F745-A342-97C95A9DC957}"/>
              </c:ext>
            </c:extLst>
          </c:dPt>
          <c:dPt>
            <c:idx val="4"/>
            <c:invertIfNegative val="0"/>
            <c:bubble3D val="0"/>
            <c:spPr>
              <a:solidFill>
                <a:srgbClr val="2196F3"/>
              </a:solidFill>
            </c:spPr>
            <c:extLst>
              <c:ext xmlns:c16="http://schemas.microsoft.com/office/drawing/2014/chart" uri="{C3380CC4-5D6E-409C-BE32-E72D297353CC}">
                <c16:uniqueId val="{00000009-2111-F745-A342-97C95A9DC957}"/>
              </c:ext>
            </c:extLst>
          </c:dPt>
          <c:dLbls>
            <c:numFmt formatCode="0%" sourceLinked="0"/>
            <c:spPr>
              <a:noFill/>
              <a:ln>
                <a:noFill/>
              </a:ln>
              <a:effectLst/>
            </c:spPr>
            <c:txPr>
              <a:bodyPr anchorCtr="1"/>
              <a:lstStyle/>
              <a:p>
                <a:pPr>
                  <a:defRPr sz="2325" b="1">
                    <a:solidFill>
                      <a:srgbClr val="202D39"/>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Random
(expected)</c:v>
              </c:pt>
              <c:pt idx="1">
                <c:v>EF rule</c:v>
              </c:pt>
              <c:pt idx="2">
                <c:v>Label only</c:v>
              </c:pt>
              <c:pt idx="3">
                <c:v>Guided
assessment*</c:v>
              </c:pt>
              <c:pt idx="4">
                <c:v>Criteria +
example</c:v>
              </c:pt>
            </c:strLit>
          </c:cat>
          <c:val>
            <c:numLit>
              <c:formatCode>0%</c:formatCode>
              <c:ptCount val="5"/>
              <c:pt idx="0">
                <c:v>0.2</c:v>
              </c:pt>
              <c:pt idx="1">
                <c:v>0.45</c:v>
              </c:pt>
              <c:pt idx="2">
                <c:v>0.55000000000000004</c:v>
              </c:pt>
              <c:pt idx="3">
                <c:v>0.4</c:v>
              </c:pt>
              <c:pt idx="4">
                <c:v>0.6</c:v>
              </c:pt>
            </c:numLit>
          </c:val>
          <c:extLst>
            <c:ext xmlns:c16="http://schemas.microsoft.com/office/drawing/2014/chart" uri="{C3380CC4-5D6E-409C-BE32-E72D297353CC}">
              <c16:uniqueId val="{0000000A-2111-F745-A342-97C95A9DC957}"/>
            </c:ext>
          </c:extLst>
        </c:ser>
        <c:dLbls>
          <c:dLblPos val="outEnd"/>
          <c:showLegendKey val="0"/>
          <c:showVal val="1"/>
          <c:showCatName val="0"/>
          <c:showSerName val="0"/>
          <c:showPercent val="0"/>
          <c:showBubbleSize val="0"/>
        </c:dLbls>
        <c:gapWidth val="7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9B7C2"/>
            </a:solidFill>
            <a:prstDash val="solid"/>
          </a:ln>
        </c:spPr>
        <c:txPr>
          <a:bodyPr anchorCtr="1"/>
          <a:lstStyle/>
          <a:p>
            <a:pPr>
              <a:defRPr sz="1725">
                <a:solidFill>
                  <a:srgbClr val="202D39"/>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8"/>
          <c:min val="0"/>
        </c:scaling>
        <c:delete val="0"/>
        <c:axPos val="l"/>
        <c:majorGridlines>
          <c:spPr>
            <a:ln w="9525">
              <a:solidFill>
                <a:srgbClr val="E1E8EE"/>
              </a:solidFill>
              <a:prstDash val="solid"/>
            </a:ln>
          </c:spPr>
        </c:majorGridlines>
        <c:numFmt formatCode="0%" sourceLinked="1"/>
        <c:majorTickMark val="none"/>
        <c:minorTickMark val="none"/>
        <c:tickLblPos val="nextTo"/>
        <c:spPr>
          <a:ln w="0">
            <a:noFill/>
            <a:prstDash val="solid"/>
          </a:ln>
        </c:spPr>
        <c:txPr>
          <a:bodyPr anchorCtr="1"/>
          <a:lstStyle/>
          <a:p>
            <a:pPr>
              <a:defRPr sz="1725">
                <a:solidFill>
                  <a:srgbClr val="566B7B"/>
                </a:solidFill>
                <a:latin typeface="Arial"/>
                <a:ea typeface="Arial"/>
                <a:cs typeface="Arial"/>
              </a:defRPr>
            </a:pPr>
            <a:endParaRPr lang="en-US"/>
          </a:p>
        </c:txPr>
        <c:crossAx val="48650112"/>
        <c:crosses val="autoZero"/>
        <c:crossBetween val="between"/>
        <c:majorUnit val="0.2"/>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ea typeface="ＭＳ Ｐゴシック"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ea typeface="ＭＳ Ｐゴシック" charset="-128"/>
                <a:cs typeface="+mn-cs"/>
              </a:defRPr>
            </a:lvl1pPr>
          </a:lstStyle>
          <a:p>
            <a:pPr>
              <a:defRPr/>
            </a:pPr>
            <a:fld id="{7450E649-7841-4084-8974-5F95669967FF}" type="datetime1">
              <a:rPr lang="en-US"/>
              <a:pPr>
                <a:defRPr/>
              </a:pPr>
              <a:t>10/16/26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ea typeface="ＭＳ Ｐゴシック"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ea typeface="ＭＳ Ｐゴシック" charset="-128"/>
                <a:cs typeface="+mn-cs"/>
              </a:defRPr>
            </a:lvl1pPr>
          </a:lstStyle>
          <a:p>
            <a:pPr>
              <a:defRPr/>
            </a:pPr>
            <a:fld id="{9DADBD10-4395-4133-8C64-DBD6BDC56C25}" type="slidenum">
              <a:rPr lang="en-US"/>
              <a:pPr>
                <a:defRPr/>
              </a:pPr>
              <a:t>‹#›</a:t>
            </a:fld>
            <a:endParaRPr lang="en-US"/>
          </a:p>
        </p:txBody>
      </p:sp>
    </p:spTree>
    <p:extLst>
      <p:ext uri="{BB962C8B-B14F-4D97-AF65-F5344CB8AC3E}">
        <p14:creationId xmlns:p14="http://schemas.microsoft.com/office/powerpoint/2010/main" val="342237903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Hi Everyone is really happy to be here sharing my research clinically calibrated LLM reasoning for zero-shot cardiac MRI pathology classification from segmentation –derived metrics. </a:t>
            </a:r>
          </a:p>
        </p:txBody>
      </p:sp>
      <p:sp>
        <p:nvSpPr>
          <p:cNvPr id="4" name="Slide Number Placeholder 3"/>
          <p:cNvSpPr>
            <a:spLocks noGrp="1"/>
          </p:cNvSpPr>
          <p:nvPr>
            <p:ph type="sldNum" sz="quarter" idx="5"/>
          </p:nvPr>
        </p:nvSpPr>
        <p:spPr/>
        <p:txBody>
          <a:bodyPr/>
          <a:lstStyle/>
          <a:p>
            <a:pPr>
              <a:defRPr/>
            </a:pPr>
            <a:fld id="{9DADBD10-4395-4133-8C64-DBD6BDC56C25}" type="slidenum">
              <a:rPr lang="en-US" smtClean="0"/>
              <a:pPr>
                <a:defRPr/>
              </a:pPr>
              <a:t>1</a:t>
            </a:fld>
            <a:endParaRPr lang="en-US"/>
          </a:p>
        </p:txBody>
      </p:sp>
    </p:spTree>
    <p:extLst>
      <p:ext uri="{BB962C8B-B14F-4D97-AF65-F5344CB8AC3E}">
        <p14:creationId xmlns:p14="http://schemas.microsoft.com/office/powerpoint/2010/main" val="2923267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dirty="0"/>
              <a:t>0:00–0:27</a:t>
            </a:r>
          </a:p>
          <a:p>
            <a:endParaRPr dirty="0"/>
          </a:p>
          <a:p>
            <a:r>
              <a:rPr dirty="0"/>
              <a:t>Cardiac MRI</a:t>
            </a:r>
            <a:r>
              <a:rPr lang="en-US" dirty="0"/>
              <a:t> can</a:t>
            </a:r>
            <a:r>
              <a:rPr dirty="0"/>
              <a:t> measure how well the heart pumps and how large its chambers are. This patient has an ejection fraction of fourteen percent and an enlarged ventricle. Our question is: can a general-purpose language model interpret these measurements and classify cardiac disease, </a:t>
            </a:r>
            <a:r>
              <a:rPr b="1" dirty="0"/>
              <a:t>without task-specific fine-tuning?</a:t>
            </a:r>
          </a:p>
          <a:p>
            <a:endParaRPr dirty="0"/>
          </a:p>
          <a:p>
            <a:endParaRPr dirty="0"/>
          </a:p>
          <a:p>
            <a:r>
              <a:rPr dirty="0"/>
              <a:t>Scientific context</a:t>
            </a:r>
          </a:p>
          <a:p>
            <a:r>
              <a:rPr dirty="0"/>
              <a:t>ACDC patient017. Reference EF 13.664423943955054%, EDV 351.9775390625 mL, ESV 303.8818359375 </a:t>
            </a:r>
            <a:r>
              <a:rPr dirty="0" err="1"/>
              <a:t>mL.</a:t>
            </a:r>
            <a:r>
              <a:rPr dirty="0"/>
              <a:t> True label and calibrated prediction: DCM. Cine supplied in </a:t>
            </a:r>
            <a:r>
              <a:rPr dirty="0" err="1"/>
              <a:t>power_pitch.zip</a:t>
            </a:r>
            <a:r>
              <a:rPr dirty="0"/>
              <a:t>/cine_patient017.gif. EF is derived from EDV and ESV, so these fields are not independent. Accepted abstract title: Clinically Calibrated Large Language Model Reasoning for Zero-Shot Cardiac MRI Pathology Classification from Segmentation-Derived Metrics</a:t>
            </a:r>
          </a:p>
          <a:p>
            <a:endParaRPr dirty="0"/>
          </a:p>
          <a:p>
            <a:r>
              <a:rPr dirty="0"/>
              <a:t>Sources</a:t>
            </a:r>
          </a:p>
          <a:p>
            <a:r>
              <a:rPr dirty="0"/>
              <a:t>Study: https://</a:t>
            </a:r>
            <a:r>
              <a:rPr dirty="0" err="1"/>
              <a:t>github.com</a:t>
            </a:r>
            <a:r>
              <a:rPr dirty="0"/>
              <a:t>/</a:t>
            </a:r>
            <a:r>
              <a:rPr dirty="0" err="1"/>
              <a:t>zhuoanli</a:t>
            </a:r>
            <a:r>
              <a:rPr dirty="0"/>
              <a:t>/</a:t>
            </a:r>
            <a:r>
              <a:rPr dirty="0" err="1"/>
              <a:t>llm</a:t>
            </a:r>
            <a:r>
              <a:rPr dirty="0"/>
              <a:t>-cardiac-pathology</a:t>
            </a:r>
          </a:p>
          <a:p>
            <a:r>
              <a:rPr dirty="0"/>
              <a:t>Results: https://</a:t>
            </a:r>
            <a:r>
              <a:rPr dirty="0" err="1"/>
              <a:t>github.com</a:t>
            </a:r>
            <a:r>
              <a:rPr dirty="0"/>
              <a:t>/</a:t>
            </a:r>
            <a:r>
              <a:rPr dirty="0" err="1"/>
              <a:t>zhuoanli</a:t>
            </a:r>
            <a:r>
              <a:rPr dirty="0"/>
              <a:t>/</a:t>
            </a:r>
            <a:r>
              <a:rPr dirty="0" err="1"/>
              <a:t>llm</a:t>
            </a:r>
            <a:r>
              <a:rPr dirty="0"/>
              <a:t>-cardiac-pathology/blob/main/results/</a:t>
            </a:r>
            <a:r>
              <a:rPr dirty="0" err="1"/>
              <a:t>llm_results.json</a:t>
            </a:r>
            <a:endParaRPr dirty="0"/>
          </a:p>
          <a:p>
            <a:r>
              <a:rPr dirty="0"/>
              <a:t>User-supplied SMRA2026_LLM_Cardiac_MRI_Abstract.pdf and original figures in </a:t>
            </a:r>
            <a:r>
              <a:rPr dirty="0" err="1"/>
              <a:t>LLM_shortpaper.zip</a:t>
            </a:r>
            <a:r>
              <a:rPr dirty="0"/>
              <a:t>.</a:t>
            </a:r>
          </a:p>
          <a:p>
            <a:r>
              <a:rPr dirty="0"/>
              <a:t>SMRA logo: https://society4mra.org/wp-content/uploads/2025/09/smra_2026.png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dirty="0"/>
              <a:t>0:27–1:14</a:t>
            </a:r>
          </a:p>
          <a:p>
            <a:endParaRPr dirty="0"/>
          </a:p>
          <a:p>
            <a:r>
              <a:rPr dirty="0"/>
              <a:t>We tested Claude Opus on twenty ACDC patients across five balanced classes, using reference segmentation measurements. The LLM received EF and ventricular volumes as text. </a:t>
            </a:r>
            <a:r>
              <a:rPr lang="en-US" dirty="0"/>
              <a:t>(click)</a:t>
            </a:r>
          </a:p>
          <a:p>
            <a:endParaRPr lang="en-US" dirty="0"/>
          </a:p>
          <a:p>
            <a:r>
              <a:rPr dirty="0"/>
              <a:t>We compared three instructions. First, choose a disease label. Second, assess EF, then volume, using supplied thresholds. Third, revise those thresholds and provide a worked example: low EF plus an enlarged ventricle supports dilated cardiomyopathy. We changed the clinical guidance in the prompt, while keeping the model weights unchanged.</a:t>
            </a:r>
          </a:p>
          <a:p>
            <a:endParaRPr dirty="0"/>
          </a:p>
          <a:p>
            <a:endParaRPr dirty="0"/>
          </a:p>
          <a:p>
            <a:r>
              <a:rPr dirty="0"/>
              <a:t>Scientific context</a:t>
            </a:r>
          </a:p>
          <a:p>
            <a:r>
              <a:rPr dirty="0"/>
              <a:t>Source image: llm_fig1.png, abstract Figure 1, cropped to MRI/segmentation/metrics/LLM. The adjacent table explains the three prompt branches. The framework includes MedSAM2 segmentation; all headline prompt comparisons here use reference segmentation-derived metrics. Claude Opus receives EF, EDV and ESV as text, together with task instructions. Stepwise prompting already includes thresholds. Calibration changes thresholds and adds one worked DCM example, with no task-specific fine-tuning. The example in CALIBRATED_COT_PROMPT is EF 28%, EDV 310 mL, ESV 223 mL, label DCM. The calibrated condition is one-shot prompting. Thresholds are representative heuristics, not a validated clinical guideline implementation. The effects of threshold changes and the worked example are not isolated.</a:t>
            </a:r>
          </a:p>
          <a:p>
            <a:endParaRPr dirty="0"/>
          </a:p>
          <a:p>
            <a:r>
              <a:rPr dirty="0"/>
              <a:t>Sources</a:t>
            </a:r>
          </a:p>
          <a:p>
            <a:r>
              <a:rPr dirty="0"/>
              <a:t>Study: https://</a:t>
            </a:r>
            <a:r>
              <a:rPr dirty="0" err="1"/>
              <a:t>github.com</a:t>
            </a:r>
            <a:r>
              <a:rPr dirty="0"/>
              <a:t>/</a:t>
            </a:r>
            <a:r>
              <a:rPr dirty="0" err="1"/>
              <a:t>zhuoanli</a:t>
            </a:r>
            <a:r>
              <a:rPr dirty="0"/>
              <a:t>/</a:t>
            </a:r>
            <a:r>
              <a:rPr dirty="0" err="1"/>
              <a:t>llm</a:t>
            </a:r>
            <a:r>
              <a:rPr dirty="0"/>
              <a:t>-cardiac-pathology</a:t>
            </a:r>
          </a:p>
          <a:p>
            <a:r>
              <a:rPr dirty="0"/>
              <a:t>Results: https://</a:t>
            </a:r>
            <a:r>
              <a:rPr dirty="0" err="1"/>
              <a:t>github.com</a:t>
            </a:r>
            <a:r>
              <a:rPr dirty="0"/>
              <a:t>/</a:t>
            </a:r>
            <a:r>
              <a:rPr dirty="0" err="1"/>
              <a:t>zhuoanli</a:t>
            </a:r>
            <a:r>
              <a:rPr dirty="0"/>
              <a:t>/</a:t>
            </a:r>
            <a:r>
              <a:rPr dirty="0" err="1"/>
              <a:t>llm</a:t>
            </a:r>
            <a:r>
              <a:rPr dirty="0"/>
              <a:t>-cardiac-pathology/blob/main/results/</a:t>
            </a:r>
            <a:r>
              <a:rPr dirty="0" err="1"/>
              <a:t>llm_results.json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dirty="0"/>
              <a:t>1:14–1:47</a:t>
            </a:r>
          </a:p>
          <a:p>
            <a:endParaRPr dirty="0"/>
          </a:p>
          <a:p>
            <a:r>
              <a:rPr dirty="0"/>
              <a:t>With a label-only instruction, the LLM classified eleven of twenty cases correctly. The guided assessment classified eight. Revised criteria plus one example classified twelve, or sixty percent, compared with nine for the EF rule. This is exploratory: the gain over label-only prompting is one case, and incomplete outputs complicate the guided assessment result.</a:t>
            </a:r>
          </a:p>
          <a:p>
            <a:endParaRPr dirty="0"/>
          </a:p>
          <a:p>
            <a:endParaRPr dirty="0"/>
          </a:p>
          <a:p>
            <a:r>
              <a:rPr dirty="0"/>
              <a:t>Scientific context</a:t>
            </a:r>
          </a:p>
          <a:p>
            <a:r>
              <a:rPr dirty="0"/>
              <a:t>Source: abstract Figure 2 right panel and Table 1. Category order: random expectation, EF rule, direct, naive/stepwise </a:t>
            </a:r>
            <a:r>
              <a:rPr dirty="0" err="1"/>
              <a:t>CoT</a:t>
            </a:r>
            <a:r>
              <a:rPr dirty="0"/>
              <a:t>, calibrated </a:t>
            </a:r>
            <a:r>
              <a:rPr dirty="0" err="1"/>
              <a:t>CoT</a:t>
            </a:r>
            <a:r>
              <a:rPr dirty="0"/>
              <a:t>. Accuracy: 20% expected, 45%, 55%, 40%, 60%. Observed correct counts: 9, 11, 8, 12 of 20. Macro-F1 for the four observed methods: 0.325, 0.425, 0.369, 0.510. The source figure rounds macro-F1 to two decimals. Eight reference-metric stepwise outputs lack an explicit final LABEL. The fallback parser can affect recorded accuracy; the experiment does not isolate a causal effect of reasoning. One case changes accuracy by 5 percentage points.</a:t>
            </a:r>
          </a:p>
          <a:p>
            <a:endParaRPr dirty="0"/>
          </a:p>
          <a:p>
            <a:r>
              <a:rPr dirty="0"/>
              <a:t>Sources</a:t>
            </a:r>
          </a:p>
          <a:p>
            <a:r>
              <a:rPr dirty="0"/>
              <a:t>Study: https://</a:t>
            </a:r>
            <a:r>
              <a:rPr dirty="0" err="1"/>
              <a:t>github.com</a:t>
            </a:r>
            <a:r>
              <a:rPr dirty="0"/>
              <a:t>/</a:t>
            </a:r>
            <a:r>
              <a:rPr dirty="0" err="1"/>
              <a:t>zhuoanli</a:t>
            </a:r>
            <a:r>
              <a:rPr dirty="0"/>
              <a:t>/</a:t>
            </a:r>
            <a:r>
              <a:rPr dirty="0" err="1"/>
              <a:t>llm</a:t>
            </a:r>
            <a:r>
              <a:rPr dirty="0"/>
              <a:t>-cardiac-pathology</a:t>
            </a:r>
          </a:p>
          <a:p>
            <a:r>
              <a:rPr dirty="0"/>
              <a:t>Results: https://</a:t>
            </a:r>
            <a:r>
              <a:rPr dirty="0" err="1"/>
              <a:t>github.com</a:t>
            </a:r>
            <a:r>
              <a:rPr dirty="0"/>
              <a:t>/</a:t>
            </a:r>
            <a:r>
              <a:rPr dirty="0" err="1"/>
              <a:t>zhuoanli</a:t>
            </a:r>
            <a:r>
              <a:rPr dirty="0"/>
              <a:t>/</a:t>
            </a:r>
            <a:r>
              <a:rPr dirty="0" err="1"/>
              <a:t>llm</a:t>
            </a:r>
            <a:r>
              <a:rPr dirty="0"/>
              <a:t>-cardiac-pathology/blob/main/results/</a:t>
            </a:r>
            <a:r>
              <a:rPr dirty="0" err="1"/>
              <a:t>llm_results.json</a:t>
            </a:r>
            <a:endParaRPr dirty="0"/>
          </a:p>
          <a:p>
            <a:r>
              <a:rPr dirty="0"/>
              <a:t>User-supplied SMRA2026_LLM_Cardiac_MRI_Abstract.pdf and original figures in </a:t>
            </a:r>
            <a:r>
              <a:rPr dirty="0" err="1"/>
              <a:t>LLM_shortpaper.zip</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dirty="0"/>
              <a:t>1:47–2:20</a:t>
            </a:r>
          </a:p>
          <a:p>
            <a:endParaRPr dirty="0"/>
          </a:p>
          <a:p>
            <a:r>
              <a:rPr dirty="0"/>
              <a:t>The confusion matrix shows the clinical pattern. The calibrated prompt correctly labeled all eight normal and dilated cardiomyopathy cases, including our opening patient. It missed all four hypertrophic cardiomyopathy cases. We supplied function and cavity size, but no wall thickness. That motivates a specific next experiment: add morphology and test whether classification improves.</a:t>
            </a:r>
          </a:p>
          <a:p>
            <a:endParaRPr dirty="0"/>
          </a:p>
          <a:p>
            <a:endParaRPr dirty="0"/>
          </a:p>
          <a:p>
            <a:r>
              <a:rPr dirty="0"/>
              <a:t>Scientific context</a:t>
            </a:r>
          </a:p>
          <a:p>
            <a:r>
              <a:rPr dirty="0"/>
              <a:t>Source: abstract Figure 2 left panel. Rows are true labels and columns are predicted labels, both NOR, DCM, HCM, MINF, RV. Matrix: [[4,0,0,0,0],[0,4,0,0,0],[1,0,0,2,1],[0,1,0,3,0],[2,0,0,1,1]]. The diagonal sums to 12. 8/8 refers to correctly labeled true NOR and DCM cases, not perfect precision. HCM 0/4 concerns the calibrated configuration. All LLM conditions have zero HCM F1; the EF rule correctly classifies one HCM case. NOR: normal; DCM: dilated cardiomyopathy; HCM: hypertrophic cardiomyopathy; MINF: myocardial infarction; RV: right-ventricular abnormality. Missing morphology is a hypothesis for future controlled testing, not a proven information ceiling.</a:t>
            </a:r>
          </a:p>
          <a:p>
            <a:endParaRPr dirty="0"/>
          </a:p>
          <a:p>
            <a:r>
              <a:rPr dirty="0"/>
              <a:t>Sources</a:t>
            </a:r>
          </a:p>
          <a:p>
            <a:r>
              <a:rPr dirty="0"/>
              <a:t>Study: https://</a:t>
            </a:r>
            <a:r>
              <a:rPr dirty="0" err="1"/>
              <a:t>github.com</a:t>
            </a:r>
            <a:r>
              <a:rPr dirty="0"/>
              <a:t>/</a:t>
            </a:r>
            <a:r>
              <a:rPr dirty="0" err="1"/>
              <a:t>zhuoanli</a:t>
            </a:r>
            <a:r>
              <a:rPr dirty="0"/>
              <a:t>/</a:t>
            </a:r>
            <a:r>
              <a:rPr dirty="0" err="1"/>
              <a:t>llm</a:t>
            </a:r>
            <a:r>
              <a:rPr dirty="0"/>
              <a:t>-cardiac-pathology</a:t>
            </a:r>
          </a:p>
          <a:p>
            <a:r>
              <a:rPr dirty="0"/>
              <a:t>Results: https://</a:t>
            </a:r>
            <a:r>
              <a:rPr dirty="0" err="1"/>
              <a:t>github.com</a:t>
            </a:r>
            <a:r>
              <a:rPr dirty="0"/>
              <a:t>/</a:t>
            </a:r>
            <a:r>
              <a:rPr dirty="0" err="1"/>
              <a:t>zhuoanli</a:t>
            </a:r>
            <a:r>
              <a:rPr dirty="0"/>
              <a:t>/</a:t>
            </a:r>
            <a:r>
              <a:rPr dirty="0" err="1"/>
              <a:t>llm</a:t>
            </a:r>
            <a:r>
              <a:rPr dirty="0"/>
              <a:t>-cardiac-pathology/blob/main/results/</a:t>
            </a:r>
            <a:r>
              <a:rPr dirty="0" err="1"/>
              <a:t>llm_results.json</a:t>
            </a:r>
            <a:endParaRPr dirty="0"/>
          </a:p>
          <a:p>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dirty="0"/>
              <a:t>2:20–2:50</a:t>
            </a:r>
          </a:p>
          <a:p>
            <a:endParaRPr dirty="0"/>
          </a:p>
          <a:p>
            <a:r>
              <a:rPr lang="en-US" dirty="0"/>
              <a:t>The </a:t>
            </a:r>
            <a:r>
              <a:rPr dirty="0"/>
              <a:t>contribution</a:t>
            </a:r>
            <a:r>
              <a:rPr lang="en-US" dirty="0"/>
              <a:t> of this study</a:t>
            </a:r>
            <a:r>
              <a:rPr dirty="0"/>
              <a:t> is a clinically guided LLM classification layer for quantitative cardiac MRI, evaluated without task-specific fine-tuning. This pilot also identifies disease-specific failures that guide the next input design. We will test richer biomarkers in larger, independent cohorts. The goal is MRI interpretation that clinicians can guide through language. Thank you</a:t>
            </a:r>
            <a:r>
              <a:rPr lang="en-US" dirty="0"/>
              <a:t> very much for your attention and welcome to scan the project page code and connect to learn details!</a:t>
            </a:r>
            <a:endParaRPr dirty="0"/>
          </a:p>
          <a:p>
            <a:endParaRPr dirty="0"/>
          </a:p>
          <a:p>
            <a:endParaRPr dirty="0"/>
          </a:p>
          <a:p>
            <a:r>
              <a:rPr dirty="0"/>
              <a:t>Scientific context</a:t>
            </a:r>
          </a:p>
          <a:p>
            <a:r>
              <a:rPr dirty="0"/>
              <a:t>Contribution: a clinically guided LLM interpretation/classification layer for quantitative cardiac MRI, comparison of instructions without task-specific fine-tuning, and disease-specific error analysis. This is an exploratory 20-case feasibility study. It does not establish clinical readiness, reliable reasoning, superiority to a fully specified rule system, or generalizability. Independent validation and controlled evaluation of additional biomarkers are future work. The goal of clinician-guided interpretation through language is aspirational, not a demonstrated workflow outcome. QR code: https://</a:t>
            </a:r>
            <a:r>
              <a:rPr dirty="0" err="1"/>
              <a:t>github.com</a:t>
            </a:r>
            <a:r>
              <a:rPr dirty="0"/>
              <a:t>/</a:t>
            </a:r>
            <a:r>
              <a:rPr dirty="0" err="1"/>
              <a:t>zhuoanli</a:t>
            </a:r>
            <a:r>
              <a:rPr dirty="0"/>
              <a:t>/</a:t>
            </a:r>
            <a:r>
              <a:rPr dirty="0" err="1"/>
              <a:t>llm</a:t>
            </a:r>
            <a:r>
              <a:rPr dirty="0"/>
              <a:t>-cardiac-pathology</a:t>
            </a:r>
          </a:p>
          <a:p>
            <a:endParaRPr dirty="0"/>
          </a:p>
          <a:p>
            <a:r>
              <a:rPr dirty="0"/>
              <a:t>Sources</a:t>
            </a:r>
          </a:p>
          <a:p>
            <a:r>
              <a:rPr dirty="0"/>
              <a:t>Study: https://</a:t>
            </a:r>
            <a:r>
              <a:rPr dirty="0" err="1"/>
              <a:t>github.com</a:t>
            </a:r>
            <a:r>
              <a:rPr dirty="0"/>
              <a:t>/</a:t>
            </a:r>
            <a:r>
              <a:rPr dirty="0" err="1"/>
              <a:t>zhuoanli</a:t>
            </a:r>
            <a:r>
              <a:rPr dirty="0"/>
              <a:t>/</a:t>
            </a:r>
            <a:r>
              <a:rPr dirty="0" err="1"/>
              <a:t>llm</a:t>
            </a:r>
            <a:r>
              <a:rPr dirty="0"/>
              <a:t>-cardiac-pathology</a:t>
            </a:r>
          </a:p>
          <a:p>
            <a:r>
              <a:rPr dirty="0"/>
              <a:t>Results: https://</a:t>
            </a:r>
            <a:r>
              <a:rPr dirty="0" err="1"/>
              <a:t>github.com</a:t>
            </a:r>
            <a:r>
              <a:rPr dirty="0"/>
              <a:t>/</a:t>
            </a:r>
            <a:r>
              <a:rPr dirty="0" err="1"/>
              <a:t>zhuoanli</a:t>
            </a:r>
            <a:r>
              <a:rPr dirty="0"/>
              <a:t>/</a:t>
            </a:r>
            <a:r>
              <a:rPr dirty="0" err="1"/>
              <a:t>llm</a:t>
            </a:r>
            <a:r>
              <a:rPr dirty="0"/>
              <a:t>-cardiac-pathology/blob/main/results/</a:t>
            </a:r>
            <a:r>
              <a:rPr dirty="0" err="1"/>
              <a:t>llm_results.json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5" name="Footer Placeholder 4"/>
          <p:cNvSpPr>
            <a:spLocks noGrp="1"/>
          </p:cNvSpPr>
          <p:nvPr>
            <p:ph type="ftr" sz="quarter" idx="11"/>
          </p:nvPr>
        </p:nvSpPr>
        <p:spPr/>
        <p:txBody>
          <a:bodyPr/>
          <a:lstStyle/>
          <a:p>
            <a:endParaRPr lang="en-US">
              <a:solidFill>
                <a:srgbClr val="00B050">
                  <a:tint val="75000"/>
                </a:srgbClr>
              </a:solidFill>
            </a:endParaRPr>
          </a:p>
        </p:txBody>
      </p:sp>
      <p:sp>
        <p:nvSpPr>
          <p:cNvPr id="6" name="Slide Number Placeholder 5"/>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183731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62200" y="0"/>
            <a:ext cx="6781800" cy="1085850"/>
          </a:xfrm>
        </p:spPr>
        <p:txBody>
          <a:bodyPr/>
          <a:lstStyle>
            <a:lvl1pPr>
              <a:defRPr>
                <a:solidFill>
                  <a:srgbClr val="003366"/>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5" name="Footer Placeholder 4"/>
          <p:cNvSpPr>
            <a:spLocks noGrp="1"/>
          </p:cNvSpPr>
          <p:nvPr>
            <p:ph type="ftr" sz="quarter" idx="11"/>
          </p:nvPr>
        </p:nvSpPr>
        <p:spPr/>
        <p:txBody>
          <a:bodyPr/>
          <a:lstStyle/>
          <a:p>
            <a:endParaRPr lang="en-US">
              <a:solidFill>
                <a:srgbClr val="00B050">
                  <a:tint val="75000"/>
                </a:srgbClr>
              </a:solidFill>
            </a:endParaRPr>
          </a:p>
        </p:txBody>
      </p:sp>
      <p:sp>
        <p:nvSpPr>
          <p:cNvPr id="6" name="Slide Number Placeholder 5"/>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68145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5" name="Footer Placeholder 4"/>
          <p:cNvSpPr>
            <a:spLocks noGrp="1"/>
          </p:cNvSpPr>
          <p:nvPr>
            <p:ph type="ftr" sz="quarter" idx="11"/>
          </p:nvPr>
        </p:nvSpPr>
        <p:spPr/>
        <p:txBody>
          <a:bodyPr/>
          <a:lstStyle/>
          <a:p>
            <a:endParaRPr lang="en-US">
              <a:solidFill>
                <a:srgbClr val="00B050">
                  <a:tint val="75000"/>
                </a:srgbClr>
              </a:solidFill>
            </a:endParaRPr>
          </a:p>
        </p:txBody>
      </p:sp>
      <p:sp>
        <p:nvSpPr>
          <p:cNvPr id="6" name="Slide Number Placeholder 5"/>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2577935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6" name="Footer Placeholder 5"/>
          <p:cNvSpPr>
            <a:spLocks noGrp="1"/>
          </p:cNvSpPr>
          <p:nvPr>
            <p:ph type="ftr" sz="quarter" idx="11"/>
          </p:nvPr>
        </p:nvSpPr>
        <p:spPr/>
        <p:txBody>
          <a:bodyPr/>
          <a:lstStyle/>
          <a:p>
            <a:endParaRPr lang="en-US">
              <a:solidFill>
                <a:srgbClr val="00B050">
                  <a:tint val="75000"/>
                </a:srgbClr>
              </a:solidFill>
            </a:endParaRPr>
          </a:p>
        </p:txBody>
      </p:sp>
      <p:sp>
        <p:nvSpPr>
          <p:cNvPr id="7" name="Slide Number Placeholder 6"/>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713881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8" name="Footer Placeholder 7"/>
          <p:cNvSpPr>
            <a:spLocks noGrp="1"/>
          </p:cNvSpPr>
          <p:nvPr>
            <p:ph type="ftr" sz="quarter" idx="11"/>
          </p:nvPr>
        </p:nvSpPr>
        <p:spPr/>
        <p:txBody>
          <a:bodyPr/>
          <a:lstStyle/>
          <a:p>
            <a:endParaRPr lang="en-US">
              <a:solidFill>
                <a:srgbClr val="00B050">
                  <a:tint val="75000"/>
                </a:srgbClr>
              </a:solidFill>
            </a:endParaRPr>
          </a:p>
        </p:txBody>
      </p:sp>
      <p:sp>
        <p:nvSpPr>
          <p:cNvPr id="9" name="Slide Number Placeholder 8"/>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88090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4" name="Footer Placeholder 3"/>
          <p:cNvSpPr>
            <a:spLocks noGrp="1"/>
          </p:cNvSpPr>
          <p:nvPr>
            <p:ph type="ftr" sz="quarter" idx="11"/>
          </p:nvPr>
        </p:nvSpPr>
        <p:spPr/>
        <p:txBody>
          <a:bodyPr/>
          <a:lstStyle/>
          <a:p>
            <a:endParaRPr lang="en-US">
              <a:solidFill>
                <a:srgbClr val="00B050">
                  <a:tint val="75000"/>
                </a:srgbClr>
              </a:solidFill>
            </a:endParaRPr>
          </a:p>
        </p:txBody>
      </p:sp>
      <p:sp>
        <p:nvSpPr>
          <p:cNvPr id="5" name="Slide Number Placeholder 4"/>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844225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3" name="Footer Placeholder 2"/>
          <p:cNvSpPr>
            <a:spLocks noGrp="1"/>
          </p:cNvSpPr>
          <p:nvPr>
            <p:ph type="ftr" sz="quarter" idx="11"/>
          </p:nvPr>
        </p:nvSpPr>
        <p:spPr/>
        <p:txBody>
          <a:bodyPr/>
          <a:lstStyle/>
          <a:p>
            <a:endParaRPr lang="en-US">
              <a:solidFill>
                <a:srgbClr val="00B050">
                  <a:tint val="75000"/>
                </a:srgbClr>
              </a:solidFill>
            </a:endParaRPr>
          </a:p>
        </p:txBody>
      </p:sp>
      <p:sp>
        <p:nvSpPr>
          <p:cNvPr id="4" name="Slide Number Placeholder 3"/>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1939897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6" name="Footer Placeholder 5"/>
          <p:cNvSpPr>
            <a:spLocks noGrp="1"/>
          </p:cNvSpPr>
          <p:nvPr>
            <p:ph type="ftr" sz="quarter" idx="11"/>
          </p:nvPr>
        </p:nvSpPr>
        <p:spPr/>
        <p:txBody>
          <a:bodyPr/>
          <a:lstStyle/>
          <a:p>
            <a:endParaRPr lang="en-US">
              <a:solidFill>
                <a:srgbClr val="00B050">
                  <a:tint val="75000"/>
                </a:srgbClr>
              </a:solidFill>
            </a:endParaRPr>
          </a:p>
        </p:txBody>
      </p:sp>
      <p:sp>
        <p:nvSpPr>
          <p:cNvPr id="7" name="Slide Number Placeholder 6"/>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1644269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6" name="Footer Placeholder 5"/>
          <p:cNvSpPr>
            <a:spLocks noGrp="1"/>
          </p:cNvSpPr>
          <p:nvPr>
            <p:ph type="ftr" sz="quarter" idx="11"/>
          </p:nvPr>
        </p:nvSpPr>
        <p:spPr/>
        <p:txBody>
          <a:bodyPr/>
          <a:lstStyle/>
          <a:p>
            <a:endParaRPr lang="en-US">
              <a:solidFill>
                <a:srgbClr val="00B050">
                  <a:tint val="75000"/>
                </a:srgbClr>
              </a:solidFill>
            </a:endParaRPr>
          </a:p>
        </p:txBody>
      </p:sp>
      <p:sp>
        <p:nvSpPr>
          <p:cNvPr id="7" name="Slide Number Placeholder 6"/>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3227523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5" name="Footer Placeholder 4"/>
          <p:cNvSpPr>
            <a:spLocks noGrp="1"/>
          </p:cNvSpPr>
          <p:nvPr>
            <p:ph type="ftr" sz="quarter" idx="11"/>
          </p:nvPr>
        </p:nvSpPr>
        <p:spPr/>
        <p:txBody>
          <a:bodyPr/>
          <a:lstStyle/>
          <a:p>
            <a:endParaRPr lang="en-US">
              <a:solidFill>
                <a:srgbClr val="00B050">
                  <a:tint val="75000"/>
                </a:srgbClr>
              </a:solidFill>
            </a:endParaRPr>
          </a:p>
        </p:txBody>
      </p:sp>
      <p:sp>
        <p:nvSpPr>
          <p:cNvPr id="6" name="Slide Number Placeholder 5"/>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2011126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5A94C6-B0FA-49BA-B334-C7EF0181C8CA}" type="datetimeFigureOut">
              <a:rPr lang="en-US" smtClean="0">
                <a:solidFill>
                  <a:srgbClr val="00B050">
                    <a:tint val="75000"/>
                  </a:srgbClr>
                </a:solidFill>
              </a:rPr>
              <a:pPr/>
              <a:t>10/16/26</a:t>
            </a:fld>
            <a:endParaRPr lang="en-US">
              <a:solidFill>
                <a:srgbClr val="00B050">
                  <a:tint val="75000"/>
                </a:srgbClr>
              </a:solidFill>
            </a:endParaRPr>
          </a:p>
        </p:txBody>
      </p:sp>
      <p:sp>
        <p:nvSpPr>
          <p:cNvPr id="5" name="Footer Placeholder 4"/>
          <p:cNvSpPr>
            <a:spLocks noGrp="1"/>
          </p:cNvSpPr>
          <p:nvPr>
            <p:ph type="ftr" sz="quarter" idx="11"/>
          </p:nvPr>
        </p:nvSpPr>
        <p:spPr/>
        <p:txBody>
          <a:bodyPr/>
          <a:lstStyle/>
          <a:p>
            <a:endParaRPr lang="en-US">
              <a:solidFill>
                <a:srgbClr val="00B050">
                  <a:tint val="75000"/>
                </a:srgbClr>
              </a:solidFill>
            </a:endParaRPr>
          </a:p>
        </p:txBody>
      </p:sp>
      <p:sp>
        <p:nvSpPr>
          <p:cNvPr id="6" name="Slide Number Placeholder 5"/>
          <p:cNvSpPr>
            <a:spLocks noGrp="1"/>
          </p:cNvSpPr>
          <p:nvPr>
            <p:ph type="sldNum" sz="quarter" idx="12"/>
          </p:nvPr>
        </p:nvSpPr>
        <p:spPr/>
        <p:txBody>
          <a:bodyPr/>
          <a:lstStyle/>
          <a:p>
            <a:fld id="{D05D5751-79B0-43A0-A543-EECE5F194014}" type="slidenum">
              <a:rPr lang="en-US" smtClean="0">
                <a:solidFill>
                  <a:srgbClr val="00B050">
                    <a:tint val="75000"/>
                  </a:srgbClr>
                </a:solidFill>
              </a:rPr>
              <a:pPr/>
              <a:t>‹#›</a:t>
            </a:fld>
            <a:endParaRPr lang="en-US">
              <a:solidFill>
                <a:srgbClr val="00B050">
                  <a:tint val="75000"/>
                </a:srgbClr>
              </a:solidFill>
            </a:endParaRPr>
          </a:p>
        </p:txBody>
      </p:sp>
    </p:spTree>
    <p:extLst>
      <p:ext uri="{BB962C8B-B14F-4D97-AF65-F5344CB8AC3E}">
        <p14:creationId xmlns:p14="http://schemas.microsoft.com/office/powerpoint/2010/main" val="972727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87883" y="21524"/>
            <a:ext cx="4648200" cy="1085850"/>
          </a:xfrm>
          <a:prstGeom prst="rect">
            <a:avLst/>
          </a:prstGeom>
          <a:solidFill>
            <a:schemeClr val="bg1"/>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755A94C6-B0FA-49BA-B334-C7EF0181C8CA}" type="datetimeFigureOut">
              <a:rPr lang="en-US" smtClean="0">
                <a:solidFill>
                  <a:srgbClr val="00B050">
                    <a:tint val="75000"/>
                  </a:srgbClr>
                </a:solidFill>
                <a:latin typeface="Calibri"/>
              </a:rPr>
              <a:pPr fontAlgn="auto">
                <a:spcBef>
                  <a:spcPts val="0"/>
                </a:spcBef>
                <a:spcAft>
                  <a:spcPts val="0"/>
                </a:spcAft>
              </a:pPr>
              <a:t>10/16/26</a:t>
            </a:fld>
            <a:endParaRPr lang="en-US">
              <a:solidFill>
                <a:srgbClr val="00B050">
                  <a:tint val="75000"/>
                </a:srgbClr>
              </a:solidFill>
              <a:latin typeface="Calibri"/>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srgbClr val="00B050">
                  <a:tint val="75000"/>
                </a:srgbClr>
              </a:solidFill>
              <a:latin typeface="Calibri"/>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D05D5751-79B0-43A0-A543-EECE5F194014}" type="slidenum">
              <a:rPr lang="en-US" smtClean="0">
                <a:solidFill>
                  <a:srgbClr val="00B050">
                    <a:tint val="75000"/>
                  </a:srgbClr>
                </a:solidFill>
                <a:latin typeface="Calibri"/>
              </a:rPr>
              <a:pPr fontAlgn="auto">
                <a:spcBef>
                  <a:spcPts val="0"/>
                </a:spcBef>
                <a:spcAft>
                  <a:spcPts val="0"/>
                </a:spcAft>
              </a:pPr>
              <a:t>‹#›</a:t>
            </a:fld>
            <a:endParaRPr lang="en-US">
              <a:solidFill>
                <a:srgbClr val="00B050">
                  <a:tint val="75000"/>
                </a:srgbClr>
              </a:solidFill>
              <a:latin typeface="Calibri"/>
            </a:endParaRPr>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4495800" cy="1085850"/>
          </a:xfrm>
          <a:prstGeom prst="rect">
            <a:avLst/>
          </a:prstGeom>
        </p:spPr>
      </p:pic>
    </p:spTree>
    <p:extLst>
      <p:ext uri="{BB962C8B-B14F-4D97-AF65-F5344CB8AC3E}">
        <p14:creationId xmlns:p14="http://schemas.microsoft.com/office/powerpoint/2010/main" val="3675009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003366"/>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gif"/><Relationship Id="rId3" Type="http://schemas.openxmlformats.org/officeDocument/2006/relationships/image" Target="../media/image5.png"/><Relationship Id="rId7"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2A14691-FAF7-6C5E-1397-D6C3DFE3DC11}"/>
              </a:ext>
            </a:extLst>
          </p:cNvPr>
          <p:cNvSpPr/>
          <p:nvPr/>
        </p:nvSpPr>
        <p:spPr>
          <a:xfrm>
            <a:off x="57807" y="1352550"/>
            <a:ext cx="9067800" cy="1200329"/>
          </a:xfrm>
          <a:prstGeom prst="rect">
            <a:avLst/>
          </a:prstGeom>
          <a:solidFill>
            <a:schemeClr val="bg1"/>
          </a:solidFill>
        </p:spPr>
        <p:txBody>
          <a:bodyPr wrap="square">
            <a:spAutoFit/>
          </a:bodyPr>
          <a:lstStyle/>
          <a:p>
            <a:r>
              <a:rPr lang="en-US" sz="2400" b="1" dirty="0">
                <a:solidFill>
                  <a:srgbClr val="000000"/>
                </a:solidFill>
              </a:rPr>
              <a:t>Clinically Calibrated Large Language Model Reasoning for Zero-Shot Cardiac MRI Pathology Classification from Segmentation-Derived Metrics </a:t>
            </a:r>
          </a:p>
        </p:txBody>
      </p:sp>
      <p:sp>
        <p:nvSpPr>
          <p:cNvPr id="8" name="Rectangle 7">
            <a:extLst>
              <a:ext uri="{FF2B5EF4-FFF2-40B4-BE49-F238E27FC236}">
                <a16:creationId xmlns:a16="http://schemas.microsoft.com/office/drawing/2014/main" id="{52B77BBB-8BAE-B484-877F-78B3C49A4C45}"/>
              </a:ext>
            </a:extLst>
          </p:cNvPr>
          <p:cNvSpPr/>
          <p:nvPr/>
        </p:nvSpPr>
        <p:spPr>
          <a:xfrm>
            <a:off x="27225" y="3554676"/>
            <a:ext cx="8763001" cy="338554"/>
          </a:xfrm>
          <a:prstGeom prst="rect">
            <a:avLst/>
          </a:prstGeom>
        </p:spPr>
        <p:txBody>
          <a:bodyPr wrap="square">
            <a:spAutoFit/>
          </a:bodyPr>
          <a:lstStyle/>
          <a:p>
            <a:r>
              <a:rPr lang="en-US" altLang="zh-CN" sz="1600" dirty="0">
                <a:solidFill>
                  <a:srgbClr val="000000"/>
                </a:solidFill>
              </a:rPr>
              <a:t>1</a:t>
            </a:r>
            <a:r>
              <a:rPr lang="en-US" sz="1600" dirty="0">
                <a:solidFill>
                  <a:srgbClr val="000000"/>
                </a:solidFill>
              </a:rPr>
              <a:t>. Weldon School of Biomedical Engineering, Purdue University, West Lafayette, USA</a:t>
            </a:r>
            <a:endParaRPr lang="en-US" sz="1600" dirty="0">
              <a:solidFill>
                <a:srgbClr val="000000"/>
              </a:solidFill>
              <a:latin typeface="Arial" panose="020B0604020202020204" pitchFamily="34" charset="0"/>
              <a:ea typeface="Calibri" charset="0"/>
              <a:cs typeface="Arial" panose="020B0604020202020204" pitchFamily="34" charset="0"/>
            </a:endParaRPr>
          </a:p>
        </p:txBody>
      </p:sp>
      <p:sp>
        <p:nvSpPr>
          <p:cNvPr id="12" name="Subtitle 2">
            <a:extLst>
              <a:ext uri="{FF2B5EF4-FFF2-40B4-BE49-F238E27FC236}">
                <a16:creationId xmlns:a16="http://schemas.microsoft.com/office/drawing/2014/main" id="{79DB1F1B-3FDB-2951-B465-D5279C3E0923}"/>
              </a:ext>
            </a:extLst>
          </p:cNvPr>
          <p:cNvSpPr txBox="1">
            <a:spLocks/>
          </p:cNvSpPr>
          <p:nvPr/>
        </p:nvSpPr>
        <p:spPr>
          <a:xfrm>
            <a:off x="76200" y="2525417"/>
            <a:ext cx="8991600" cy="415858"/>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1800" dirty="0">
                <a:solidFill>
                  <a:srgbClr val="000000"/>
                </a:solidFill>
                <a:latin typeface="Arial" panose="020B0604020202020204" pitchFamily="34" charset="0"/>
                <a:ea typeface="SimSun" panose="02010600030101010101" pitchFamily="2" charset="-122"/>
                <a:cs typeface="Arial" panose="020B0604020202020204" pitchFamily="34" charset="0"/>
              </a:rPr>
              <a:t>Zhuoan Li</a:t>
            </a:r>
            <a:r>
              <a:rPr lang="en-US" sz="1800" baseline="30000" dirty="0">
                <a:solidFill>
                  <a:srgbClr val="000000"/>
                </a:solidFill>
                <a:latin typeface="Arial" panose="020B0604020202020204" pitchFamily="34" charset="0"/>
                <a:ea typeface="SimSun" panose="02010600030101010101" pitchFamily="2" charset="-122"/>
                <a:cs typeface="Arial" panose="020B0604020202020204" pitchFamily="34" charset="0"/>
              </a:rPr>
              <a:t>1</a:t>
            </a:r>
            <a:endParaRPr lang="en-US" sz="1800" dirty="0">
              <a:solidFill>
                <a:srgbClr val="000000"/>
              </a:solidFill>
              <a:latin typeface="Arial" panose="020B0604020202020204" pitchFamily="34" charset="0"/>
              <a:ea typeface="SimSun" panose="02010600030101010101" pitchFamily="2" charset="-122"/>
              <a:cs typeface="Arial" panose="020B0604020202020204" pitchFamily="34" charset="0"/>
            </a:endParaRPr>
          </a:p>
        </p:txBody>
      </p:sp>
      <p:pic>
        <p:nvPicPr>
          <p:cNvPr id="15" name="Picture 14">
            <a:extLst>
              <a:ext uri="{FF2B5EF4-FFF2-40B4-BE49-F238E27FC236}">
                <a16:creationId xmlns:a16="http://schemas.microsoft.com/office/drawing/2014/main" id="{D94190EC-7191-C477-39F6-69FCF0EE2D4F}"/>
              </a:ext>
            </a:extLst>
          </p:cNvPr>
          <p:cNvPicPr>
            <a:picLocks noChangeAspect="1"/>
          </p:cNvPicPr>
          <p:nvPr/>
        </p:nvPicPr>
        <p:blipFill>
          <a:blip r:embed="rId3"/>
          <a:srcRect t="16545" r="5085" b="15652"/>
          <a:stretch>
            <a:fillRect/>
          </a:stretch>
        </p:blipFill>
        <p:spPr>
          <a:xfrm>
            <a:off x="5315607" y="4400550"/>
            <a:ext cx="3810000" cy="748393"/>
          </a:xfrm>
          <a:prstGeom prst="rect">
            <a:avLst/>
          </a:prstGeom>
        </p:spPr>
      </p:pic>
      <p:pic>
        <p:nvPicPr>
          <p:cNvPr id="5" name="Picture 4">
            <a:extLst>
              <a:ext uri="{FF2B5EF4-FFF2-40B4-BE49-F238E27FC236}">
                <a16:creationId xmlns:a16="http://schemas.microsoft.com/office/drawing/2014/main" id="{48E94F79-4361-C31B-54C0-63691A0B8E31}"/>
              </a:ext>
            </a:extLst>
          </p:cNvPr>
          <p:cNvPicPr>
            <a:picLocks noChangeAspect="1"/>
          </p:cNvPicPr>
          <p:nvPr/>
        </p:nvPicPr>
        <p:blipFill>
          <a:blip r:embed="rId4"/>
          <a:stretch/>
        </p:blipFill>
        <p:spPr>
          <a:xfrm>
            <a:off x="29028" y="44110"/>
            <a:ext cx="3190015" cy="630238"/>
          </a:xfrm>
          <a:prstGeom prst="rect">
            <a:avLst/>
          </a:prstGeom>
        </p:spPr>
      </p:pic>
      <p:sp>
        <p:nvSpPr>
          <p:cNvPr id="9" name="SMRA red header rule">
            <a:extLst>
              <a:ext uri="{FF2B5EF4-FFF2-40B4-BE49-F238E27FC236}">
                <a16:creationId xmlns:a16="http://schemas.microsoft.com/office/drawing/2014/main" id="{0BEBA781-9C5F-4875-6C85-78AB8C5357A4}"/>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10" name="Purdue gold header accent">
            <a:extLst>
              <a:ext uri="{FF2B5EF4-FFF2-40B4-BE49-F238E27FC236}">
                <a16:creationId xmlns:a16="http://schemas.microsoft.com/office/drawing/2014/main" id="{47418C3B-B282-A068-0BF8-549804CFFE96}"/>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spTree>
    <p:extLst>
      <p:ext uri="{BB962C8B-B14F-4D97-AF65-F5344CB8AC3E}">
        <p14:creationId xmlns:p14="http://schemas.microsoft.com/office/powerpoint/2010/main" val="1103506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pening question">
            <a:extLst>
              <a:ext uri="{FF2B5EF4-FFF2-40B4-BE49-F238E27FC236}">
                <a16:creationId xmlns:a16="http://schemas.microsoft.com/office/drawing/2014/main" id="{5D55FFB8-D58A-481F-B1CA-AC8CCD3B3330}"/>
              </a:ext>
            </a:extLst>
          </p:cNvPr>
          <p:cNvSpPr>
            <a:spLocks noGrp="1"/>
          </p:cNvSpPr>
          <p:nvPr/>
        </p:nvSpPr>
        <p:spPr>
          <a:xfrm>
            <a:off x="400050" y="1371601"/>
            <a:ext cx="5143500" cy="964406"/>
          </a:xfrm>
          <a:prstGeom prst="rect">
            <a:avLst/>
          </a:prstGeom>
          <a:noFill/>
          <a:ln w="0">
            <a:noFill/>
          </a:ln>
        </p:spPr>
        <p:txBody>
          <a:bodyPr wrap="none" lIns="0" tIns="0" rIns="0" bIns="0" anchor="t">
            <a:noAutofit/>
          </a:bodyPr>
          <a:lstStyle>
            <a:defPPr algn="l">
              <a:defRPr sz="4125" b="1">
                <a:solidFill>
                  <a:srgbClr val="202D39"/>
                </a:solidFill>
                <a:latin typeface="Arial"/>
                <a:ea typeface="Arial"/>
                <a:cs typeface="Arial"/>
              </a:defRPr>
            </a:defPPr>
          </a:lstStyle>
          <a:p>
            <a:pPr algn="l">
              <a:buNone/>
              <a:defRPr sz="4125" b="1">
                <a:solidFill>
                  <a:srgbClr val="202D39"/>
                </a:solidFill>
                <a:latin typeface="Arial"/>
                <a:ea typeface="Arial"/>
                <a:cs typeface="Arial"/>
              </a:defRPr>
            </a:pPr>
            <a:r>
              <a:rPr sz="3094" b="1" dirty="0">
                <a:solidFill>
                  <a:srgbClr val="202D39"/>
                </a:solidFill>
                <a:latin typeface="Arial"/>
                <a:ea typeface="Arial"/>
                <a:cs typeface="Arial"/>
              </a:rPr>
              <a:t>Can an LLM identify</a:t>
            </a:r>
          </a:p>
          <a:p>
            <a:pPr algn="l">
              <a:buNone/>
              <a:defRPr sz="4125" b="1">
                <a:solidFill>
                  <a:srgbClr val="202D39"/>
                </a:solidFill>
                <a:latin typeface="Arial"/>
                <a:ea typeface="Arial"/>
                <a:cs typeface="Arial"/>
              </a:defRPr>
            </a:pPr>
            <a:r>
              <a:rPr sz="3094" b="1" dirty="0">
                <a:solidFill>
                  <a:srgbClr val="202D39"/>
                </a:solidFill>
                <a:latin typeface="Arial"/>
                <a:ea typeface="Arial"/>
                <a:cs typeface="Arial"/>
              </a:rPr>
              <a:t>cardiac disease from</a:t>
            </a:r>
          </a:p>
        </p:txBody>
      </p:sp>
      <p:sp>
        <p:nvSpPr>
          <p:cNvPr id="9" name="three numbers question">
            <a:extLst>
              <a:ext uri="{FF2B5EF4-FFF2-40B4-BE49-F238E27FC236}">
                <a16:creationId xmlns:a16="http://schemas.microsoft.com/office/drawing/2014/main" id="{B8BD8B60-0890-4FDF-90C1-3C2118787316}"/>
              </a:ext>
            </a:extLst>
          </p:cNvPr>
          <p:cNvSpPr>
            <a:spLocks noGrp="1"/>
          </p:cNvSpPr>
          <p:nvPr/>
        </p:nvSpPr>
        <p:spPr>
          <a:xfrm>
            <a:off x="400050" y="2378869"/>
            <a:ext cx="5114925" cy="535781"/>
          </a:xfrm>
          <a:prstGeom prst="rect">
            <a:avLst/>
          </a:prstGeom>
          <a:noFill/>
          <a:ln w="0">
            <a:noFill/>
          </a:ln>
        </p:spPr>
        <p:txBody>
          <a:bodyPr wrap="none" lIns="0" tIns="0" rIns="0" bIns="0" anchor="t">
            <a:noAutofit/>
          </a:bodyPr>
          <a:lstStyle>
            <a:defPPr algn="l">
              <a:defRPr sz="4725" b="1">
                <a:solidFill>
                  <a:srgbClr val="990F1B"/>
                </a:solidFill>
                <a:latin typeface="Arial"/>
                <a:ea typeface="Arial"/>
                <a:cs typeface="Arial"/>
              </a:defRPr>
            </a:defPPr>
          </a:lstStyle>
          <a:p>
            <a:pPr algn="l">
              <a:buNone/>
              <a:defRPr sz="4725" b="1">
                <a:solidFill>
                  <a:srgbClr val="990F1B"/>
                </a:solidFill>
                <a:latin typeface="Arial"/>
                <a:ea typeface="Arial"/>
                <a:cs typeface="Arial"/>
              </a:defRPr>
            </a:pPr>
            <a:r>
              <a:rPr sz="3544" b="1">
                <a:solidFill>
                  <a:srgbClr val="990F1B"/>
                </a:solidFill>
                <a:latin typeface="Arial"/>
                <a:ea typeface="Arial"/>
                <a:cs typeface="Arial"/>
              </a:rPr>
              <a:t>three numbers?</a:t>
            </a:r>
          </a:p>
        </p:txBody>
      </p:sp>
      <p:sp>
        <p:nvSpPr>
          <p:cNvPr id="10" name="measurement 0">
            <a:extLst>
              <a:ext uri="{FF2B5EF4-FFF2-40B4-BE49-F238E27FC236}">
                <a16:creationId xmlns:a16="http://schemas.microsoft.com/office/drawing/2014/main" id="{5C7AFE12-AA16-490A-804F-D6F27725A0F7}"/>
              </a:ext>
            </a:extLst>
          </p:cNvPr>
          <p:cNvSpPr>
            <a:spLocks noGrp="1"/>
          </p:cNvSpPr>
          <p:nvPr/>
        </p:nvSpPr>
        <p:spPr>
          <a:xfrm>
            <a:off x="414338" y="3383756"/>
            <a:ext cx="1607344" cy="542925"/>
          </a:xfrm>
          <a:prstGeom prst="rect">
            <a:avLst/>
          </a:prstGeom>
          <a:noFill/>
          <a:ln w="0">
            <a:noFill/>
          </a:ln>
        </p:spPr>
        <p:txBody>
          <a:bodyPr wrap="none" lIns="0" tIns="0" rIns="0" bIns="0" anchor="t">
            <a:noAutofit/>
          </a:bodyPr>
          <a:lstStyle>
            <a:defPPr algn="l">
              <a:defRPr sz="4350" b="1">
                <a:solidFill>
                  <a:srgbClr val="202D39"/>
                </a:solidFill>
                <a:latin typeface="Arial"/>
                <a:ea typeface="Arial"/>
                <a:cs typeface="Arial"/>
              </a:defRPr>
            </a:defPPr>
          </a:lstStyle>
          <a:p>
            <a:pPr algn="l">
              <a:buNone/>
              <a:defRPr sz="4350" b="1">
                <a:solidFill>
                  <a:srgbClr val="202D39"/>
                </a:solidFill>
                <a:latin typeface="Arial"/>
                <a:ea typeface="Arial"/>
                <a:cs typeface="Arial"/>
              </a:defRPr>
            </a:pPr>
            <a:r>
              <a:rPr sz="3263" b="1" dirty="0">
                <a:solidFill>
                  <a:srgbClr val="202D39"/>
                </a:solidFill>
                <a:latin typeface="Arial"/>
                <a:ea typeface="Arial"/>
                <a:cs typeface="Arial"/>
              </a:rPr>
              <a:t>14%</a:t>
            </a:r>
          </a:p>
        </p:txBody>
      </p:sp>
      <p:sp>
        <p:nvSpPr>
          <p:cNvPr id="11" name="measurement label 0">
            <a:extLst>
              <a:ext uri="{FF2B5EF4-FFF2-40B4-BE49-F238E27FC236}">
                <a16:creationId xmlns:a16="http://schemas.microsoft.com/office/drawing/2014/main" id="{0F543BBA-12A1-4C6A-AEBC-8340A6966477}"/>
              </a:ext>
            </a:extLst>
          </p:cNvPr>
          <p:cNvSpPr>
            <a:spLocks noGrp="1"/>
          </p:cNvSpPr>
          <p:nvPr/>
        </p:nvSpPr>
        <p:spPr>
          <a:xfrm>
            <a:off x="414338" y="3933825"/>
            <a:ext cx="1607344" cy="235744"/>
          </a:xfrm>
          <a:prstGeom prst="rect">
            <a:avLst/>
          </a:prstGeom>
          <a:noFill/>
          <a:ln w="0">
            <a:noFill/>
          </a:ln>
        </p:spPr>
        <p:txBody>
          <a:bodyPr wrap="none" lIns="0" tIns="0" rIns="0" bIns="0" anchor="t">
            <a:noAutofit/>
          </a:bodyPr>
          <a:lstStyle>
            <a:defPPr algn="l">
              <a:defRPr sz="1875" b="0">
                <a:solidFill>
                  <a:srgbClr val="566B7B"/>
                </a:solidFill>
                <a:latin typeface="Arial"/>
                <a:ea typeface="Arial"/>
                <a:cs typeface="Arial"/>
              </a:defRPr>
            </a:defPPr>
          </a:lstStyle>
          <a:p>
            <a:pPr algn="l">
              <a:buNone/>
              <a:defRPr sz="1875" b="0">
                <a:solidFill>
                  <a:srgbClr val="566B7B"/>
                </a:solidFill>
                <a:latin typeface="Arial"/>
                <a:ea typeface="Arial"/>
                <a:cs typeface="Arial"/>
              </a:defRPr>
            </a:pPr>
            <a:r>
              <a:rPr sz="1406">
                <a:solidFill>
                  <a:srgbClr val="566B7B"/>
                </a:solidFill>
                <a:latin typeface="Arial"/>
                <a:ea typeface="Arial"/>
                <a:cs typeface="Arial"/>
              </a:rPr>
              <a:t>EF</a:t>
            </a:r>
          </a:p>
        </p:txBody>
      </p:sp>
      <p:sp>
        <p:nvSpPr>
          <p:cNvPr id="12" name="measurement 1">
            <a:extLst>
              <a:ext uri="{FF2B5EF4-FFF2-40B4-BE49-F238E27FC236}">
                <a16:creationId xmlns:a16="http://schemas.microsoft.com/office/drawing/2014/main" id="{16648AAF-8400-43DA-99FD-EB98AC25E5C4}"/>
              </a:ext>
            </a:extLst>
          </p:cNvPr>
          <p:cNvSpPr>
            <a:spLocks noGrp="1"/>
          </p:cNvSpPr>
          <p:nvPr/>
        </p:nvSpPr>
        <p:spPr>
          <a:xfrm>
            <a:off x="2078832" y="3383756"/>
            <a:ext cx="1607344" cy="542925"/>
          </a:xfrm>
          <a:prstGeom prst="rect">
            <a:avLst/>
          </a:prstGeom>
          <a:noFill/>
          <a:ln w="0">
            <a:noFill/>
          </a:ln>
        </p:spPr>
        <p:txBody>
          <a:bodyPr wrap="none" lIns="0" tIns="0" rIns="0" bIns="0" anchor="t">
            <a:noAutofit/>
          </a:bodyPr>
          <a:lstStyle>
            <a:defPPr algn="l">
              <a:defRPr sz="4350" b="1">
                <a:solidFill>
                  <a:srgbClr val="202D39"/>
                </a:solidFill>
                <a:latin typeface="Arial"/>
                <a:ea typeface="Arial"/>
                <a:cs typeface="Arial"/>
              </a:defRPr>
            </a:defPPr>
          </a:lstStyle>
          <a:p>
            <a:pPr algn="l">
              <a:buNone/>
              <a:defRPr sz="4350" b="1">
                <a:solidFill>
                  <a:srgbClr val="202D39"/>
                </a:solidFill>
                <a:latin typeface="Arial"/>
                <a:ea typeface="Arial"/>
                <a:cs typeface="Arial"/>
              </a:defRPr>
            </a:pPr>
            <a:r>
              <a:rPr sz="3263" b="1" dirty="0">
                <a:solidFill>
                  <a:srgbClr val="202D39"/>
                </a:solidFill>
                <a:latin typeface="Arial"/>
                <a:ea typeface="Arial"/>
                <a:cs typeface="Arial"/>
              </a:rPr>
              <a:t>352</a:t>
            </a:r>
          </a:p>
        </p:txBody>
      </p:sp>
      <p:sp>
        <p:nvSpPr>
          <p:cNvPr id="13" name="measurement label 1">
            <a:extLst>
              <a:ext uri="{FF2B5EF4-FFF2-40B4-BE49-F238E27FC236}">
                <a16:creationId xmlns:a16="http://schemas.microsoft.com/office/drawing/2014/main" id="{B593F10A-5BC9-4918-A624-0DE044588C71}"/>
              </a:ext>
            </a:extLst>
          </p:cNvPr>
          <p:cNvSpPr>
            <a:spLocks noGrp="1"/>
          </p:cNvSpPr>
          <p:nvPr/>
        </p:nvSpPr>
        <p:spPr>
          <a:xfrm>
            <a:off x="2078832" y="3933825"/>
            <a:ext cx="1607344" cy="235744"/>
          </a:xfrm>
          <a:prstGeom prst="rect">
            <a:avLst/>
          </a:prstGeom>
          <a:noFill/>
          <a:ln w="0">
            <a:noFill/>
          </a:ln>
        </p:spPr>
        <p:txBody>
          <a:bodyPr wrap="none" lIns="0" tIns="0" rIns="0" bIns="0" anchor="t">
            <a:noAutofit/>
          </a:bodyPr>
          <a:lstStyle>
            <a:defPPr algn="l">
              <a:defRPr sz="1875" b="0">
                <a:solidFill>
                  <a:srgbClr val="566B7B"/>
                </a:solidFill>
                <a:latin typeface="Arial"/>
                <a:ea typeface="Arial"/>
                <a:cs typeface="Arial"/>
              </a:defRPr>
            </a:defPPr>
          </a:lstStyle>
          <a:p>
            <a:pPr algn="l">
              <a:buNone/>
              <a:defRPr sz="1875" b="0">
                <a:solidFill>
                  <a:srgbClr val="566B7B"/>
                </a:solidFill>
                <a:latin typeface="Arial"/>
                <a:ea typeface="Arial"/>
                <a:cs typeface="Arial"/>
              </a:defRPr>
            </a:pPr>
            <a:r>
              <a:rPr sz="1406">
                <a:solidFill>
                  <a:srgbClr val="566B7B"/>
                </a:solidFill>
                <a:latin typeface="Arial"/>
                <a:ea typeface="Arial"/>
                <a:cs typeface="Arial"/>
              </a:rPr>
              <a:t>EDV (mL)</a:t>
            </a:r>
          </a:p>
        </p:txBody>
      </p:sp>
      <p:sp>
        <p:nvSpPr>
          <p:cNvPr id="14" name="measurement 2">
            <a:extLst>
              <a:ext uri="{FF2B5EF4-FFF2-40B4-BE49-F238E27FC236}">
                <a16:creationId xmlns:a16="http://schemas.microsoft.com/office/drawing/2014/main" id="{4B20ABAD-E3AD-4B82-A1C8-EB7DD93A00FC}"/>
              </a:ext>
            </a:extLst>
          </p:cNvPr>
          <p:cNvSpPr>
            <a:spLocks noGrp="1"/>
          </p:cNvSpPr>
          <p:nvPr/>
        </p:nvSpPr>
        <p:spPr>
          <a:xfrm>
            <a:off x="3714750" y="3383756"/>
            <a:ext cx="1607344" cy="542925"/>
          </a:xfrm>
          <a:prstGeom prst="rect">
            <a:avLst/>
          </a:prstGeom>
          <a:noFill/>
          <a:ln w="0">
            <a:noFill/>
          </a:ln>
        </p:spPr>
        <p:txBody>
          <a:bodyPr wrap="none" lIns="0" tIns="0" rIns="0" bIns="0" anchor="t">
            <a:noAutofit/>
          </a:bodyPr>
          <a:lstStyle>
            <a:defPPr algn="l">
              <a:defRPr sz="4350" b="1">
                <a:solidFill>
                  <a:srgbClr val="202D39"/>
                </a:solidFill>
                <a:latin typeface="Arial"/>
                <a:ea typeface="Arial"/>
                <a:cs typeface="Arial"/>
              </a:defRPr>
            </a:defPPr>
          </a:lstStyle>
          <a:p>
            <a:pPr algn="l">
              <a:buNone/>
              <a:defRPr sz="4350" b="1">
                <a:solidFill>
                  <a:srgbClr val="202D39"/>
                </a:solidFill>
                <a:latin typeface="Arial"/>
                <a:ea typeface="Arial"/>
                <a:cs typeface="Arial"/>
              </a:defRPr>
            </a:pPr>
            <a:r>
              <a:rPr sz="3263" b="1">
                <a:solidFill>
                  <a:srgbClr val="202D39"/>
                </a:solidFill>
                <a:latin typeface="Arial"/>
                <a:ea typeface="Arial"/>
                <a:cs typeface="Arial"/>
              </a:rPr>
              <a:t>304</a:t>
            </a:r>
          </a:p>
        </p:txBody>
      </p:sp>
      <p:sp>
        <p:nvSpPr>
          <p:cNvPr id="15" name="measurement label 2">
            <a:extLst>
              <a:ext uri="{FF2B5EF4-FFF2-40B4-BE49-F238E27FC236}">
                <a16:creationId xmlns:a16="http://schemas.microsoft.com/office/drawing/2014/main" id="{1494CB3A-5D39-42EE-9398-9B66EB9681E4}"/>
              </a:ext>
            </a:extLst>
          </p:cNvPr>
          <p:cNvSpPr>
            <a:spLocks noGrp="1"/>
          </p:cNvSpPr>
          <p:nvPr/>
        </p:nvSpPr>
        <p:spPr>
          <a:xfrm>
            <a:off x="3714750" y="3933825"/>
            <a:ext cx="1607344" cy="235744"/>
          </a:xfrm>
          <a:prstGeom prst="rect">
            <a:avLst/>
          </a:prstGeom>
          <a:noFill/>
          <a:ln w="0">
            <a:noFill/>
          </a:ln>
        </p:spPr>
        <p:txBody>
          <a:bodyPr wrap="none" lIns="0" tIns="0" rIns="0" bIns="0" anchor="t">
            <a:noAutofit/>
          </a:bodyPr>
          <a:lstStyle>
            <a:defPPr algn="l">
              <a:defRPr sz="1875" b="0">
                <a:solidFill>
                  <a:srgbClr val="566B7B"/>
                </a:solidFill>
                <a:latin typeface="Arial"/>
                <a:ea typeface="Arial"/>
                <a:cs typeface="Arial"/>
              </a:defRPr>
            </a:defPPr>
          </a:lstStyle>
          <a:p>
            <a:pPr algn="l">
              <a:buNone/>
              <a:defRPr sz="1875" b="0">
                <a:solidFill>
                  <a:srgbClr val="566B7B"/>
                </a:solidFill>
                <a:latin typeface="Arial"/>
                <a:ea typeface="Arial"/>
                <a:cs typeface="Arial"/>
              </a:defRPr>
            </a:pPr>
            <a:r>
              <a:rPr sz="1406">
                <a:solidFill>
                  <a:srgbClr val="566B7B"/>
                </a:solidFill>
                <a:latin typeface="Arial"/>
                <a:ea typeface="Arial"/>
                <a:cs typeface="Arial"/>
              </a:rPr>
              <a:t>ESV (mL)</a:t>
            </a:r>
          </a:p>
        </p:txBody>
      </p:sp>
      <p:sp>
        <p:nvSpPr>
          <p:cNvPr id="16" name="measurement source">
            <a:extLst>
              <a:ext uri="{FF2B5EF4-FFF2-40B4-BE49-F238E27FC236}">
                <a16:creationId xmlns:a16="http://schemas.microsoft.com/office/drawing/2014/main" id="{2F9C03E1-DA49-4917-BB5B-80F811882FCB}"/>
              </a:ext>
            </a:extLst>
          </p:cNvPr>
          <p:cNvSpPr>
            <a:spLocks noGrp="1"/>
          </p:cNvSpPr>
          <p:nvPr/>
        </p:nvSpPr>
        <p:spPr>
          <a:xfrm>
            <a:off x="414338" y="4269581"/>
            <a:ext cx="4857750" cy="207169"/>
          </a:xfrm>
          <a:prstGeom prst="rect">
            <a:avLst/>
          </a:prstGeom>
          <a:noFill/>
          <a:ln w="0">
            <a:noFill/>
          </a:ln>
        </p:spPr>
        <p:txBody>
          <a:bodyPr wrap="none" lIns="0" tIns="0" rIns="0" bIns="0" anchor="t">
            <a:noAutofit/>
          </a:bodyPr>
          <a:lstStyle>
            <a:defPPr algn="l">
              <a:defRPr sz="1575" b="0">
                <a:solidFill>
                  <a:srgbClr val="566B7B"/>
                </a:solidFill>
                <a:latin typeface="Arial"/>
                <a:ea typeface="Arial"/>
                <a:cs typeface="Arial"/>
              </a:defRPr>
            </a:defPPr>
          </a:lstStyle>
          <a:p>
            <a:pPr algn="l">
              <a:buNone/>
              <a:defRPr sz="1575" b="0">
                <a:solidFill>
                  <a:srgbClr val="566B7B"/>
                </a:solidFill>
                <a:latin typeface="Arial"/>
                <a:ea typeface="Arial"/>
                <a:cs typeface="Arial"/>
              </a:defRPr>
            </a:pPr>
            <a:r>
              <a:rPr sz="1400" b="1" dirty="0">
                <a:solidFill>
                  <a:srgbClr val="566B7B"/>
                </a:solidFill>
                <a:latin typeface="Arial"/>
                <a:ea typeface="Arial"/>
                <a:cs typeface="Arial"/>
              </a:rPr>
              <a:t>Reference LV measurements</a:t>
            </a:r>
          </a:p>
        </p:txBody>
      </p:sp>
      <p:pic>
        <p:nvPicPr>
          <p:cNvPr id="18" name="Picture 17">
            <a:extLst>
              <a:ext uri="{FF2B5EF4-FFF2-40B4-BE49-F238E27FC236}">
                <a16:creationId xmlns:a16="http://schemas.microsoft.com/office/drawing/2014/main" id="{F8E94A45-5FA1-4834-91D7-835B55468DEC}"/>
              </a:ext>
            </a:extLst>
          </p:cNvPr>
          <p:cNvPicPr>
            <a:picLocks noChangeAspect="1"/>
          </p:cNvPicPr>
          <p:nvPr/>
        </p:nvPicPr>
        <p:blipFill>
          <a:blip r:embed="rId3"/>
          <a:stretch/>
        </p:blipFill>
        <p:spPr>
          <a:xfrm>
            <a:off x="5700712" y="1293019"/>
            <a:ext cx="3043238" cy="3043238"/>
          </a:xfrm>
          <a:prstGeom prst="rect">
            <a:avLst/>
          </a:prstGeom>
        </p:spPr>
      </p:pic>
      <p:sp>
        <p:nvSpPr>
          <p:cNvPr id="19" name="cine caption">
            <a:extLst>
              <a:ext uri="{FF2B5EF4-FFF2-40B4-BE49-F238E27FC236}">
                <a16:creationId xmlns:a16="http://schemas.microsoft.com/office/drawing/2014/main" id="{9D72FC90-7103-49AF-B619-131354E752CB}"/>
              </a:ext>
            </a:extLst>
          </p:cNvPr>
          <p:cNvSpPr>
            <a:spLocks noGrp="1"/>
          </p:cNvSpPr>
          <p:nvPr/>
        </p:nvSpPr>
        <p:spPr>
          <a:xfrm>
            <a:off x="5700712" y="4421982"/>
            <a:ext cx="3043238" cy="207169"/>
          </a:xfrm>
          <a:prstGeom prst="rect">
            <a:avLst/>
          </a:prstGeom>
          <a:noFill/>
          <a:ln w="0">
            <a:noFill/>
          </a:ln>
        </p:spPr>
        <p:txBody>
          <a:bodyPr wrap="none" lIns="0" tIns="0" rIns="0" bIns="0" anchor="t">
            <a:noAutofit/>
          </a:bodyPr>
          <a:lstStyle>
            <a:defPPr algn="ctr">
              <a:defRPr sz="1575" b="0">
                <a:solidFill>
                  <a:srgbClr val="566B7B"/>
                </a:solidFill>
                <a:latin typeface="Arial"/>
                <a:ea typeface="Arial"/>
                <a:cs typeface="Arial"/>
              </a:defRPr>
            </a:defPPr>
          </a:lstStyle>
          <a:p>
            <a:pPr algn="ctr">
              <a:buNone/>
              <a:defRPr sz="1575" b="0">
                <a:solidFill>
                  <a:srgbClr val="566B7B"/>
                </a:solidFill>
                <a:latin typeface="Arial"/>
                <a:ea typeface="Arial"/>
                <a:cs typeface="Arial"/>
              </a:defRPr>
            </a:pPr>
            <a:r>
              <a:rPr sz="1181">
                <a:solidFill>
                  <a:srgbClr val="566B7B"/>
                </a:solidFill>
                <a:latin typeface="Arial"/>
                <a:ea typeface="Arial"/>
                <a:cs typeface="Arial"/>
              </a:rPr>
              <a:t>ACDC patient017</a:t>
            </a:r>
          </a:p>
        </p:txBody>
      </p:sp>
      <p:pic>
        <p:nvPicPr>
          <p:cNvPr id="22" name="Picture 21">
            <a:extLst>
              <a:ext uri="{FF2B5EF4-FFF2-40B4-BE49-F238E27FC236}">
                <a16:creationId xmlns:a16="http://schemas.microsoft.com/office/drawing/2014/main" id="{0D4B5A34-4D86-923B-06CD-9F131668891D}"/>
              </a:ext>
            </a:extLst>
          </p:cNvPr>
          <p:cNvPicPr>
            <a:picLocks noChangeAspect="1"/>
          </p:cNvPicPr>
          <p:nvPr/>
        </p:nvPicPr>
        <p:blipFill>
          <a:blip r:embed="rId4"/>
          <a:stretch/>
        </p:blipFill>
        <p:spPr>
          <a:xfrm>
            <a:off x="29028" y="44110"/>
            <a:ext cx="3190015" cy="630238"/>
          </a:xfrm>
          <a:prstGeom prst="rect">
            <a:avLst/>
          </a:prstGeom>
        </p:spPr>
      </p:pic>
      <p:sp>
        <p:nvSpPr>
          <p:cNvPr id="23" name="SMRA red header rule">
            <a:extLst>
              <a:ext uri="{FF2B5EF4-FFF2-40B4-BE49-F238E27FC236}">
                <a16:creationId xmlns:a16="http://schemas.microsoft.com/office/drawing/2014/main" id="{DC375ACE-6B29-5A49-BB20-274525847EA2}"/>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24" name="Purdue gold header accent">
            <a:extLst>
              <a:ext uri="{FF2B5EF4-FFF2-40B4-BE49-F238E27FC236}">
                <a16:creationId xmlns:a16="http://schemas.microsoft.com/office/drawing/2014/main" id="{451BBB2A-3802-6B45-EAEA-C9B68187F061}"/>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pic>
        <p:nvPicPr>
          <p:cNvPr id="25" name="Picture 24">
            <a:extLst>
              <a:ext uri="{FF2B5EF4-FFF2-40B4-BE49-F238E27FC236}">
                <a16:creationId xmlns:a16="http://schemas.microsoft.com/office/drawing/2014/main" id="{FF7C84ED-24BF-8CBA-543D-AE4496006239}"/>
              </a:ext>
            </a:extLst>
          </p:cNvPr>
          <p:cNvPicPr>
            <a:picLocks noChangeAspect="1"/>
          </p:cNvPicPr>
          <p:nvPr/>
        </p:nvPicPr>
        <p:blipFill>
          <a:blip r:embed="rId5"/>
          <a:srcRect t="16545" r="5085" b="15652"/>
          <a:stretch>
            <a:fillRect/>
          </a:stretch>
        </p:blipFill>
        <p:spPr>
          <a:xfrm>
            <a:off x="5334000" y="44109"/>
            <a:ext cx="3810000" cy="748393"/>
          </a:xfrm>
          <a:prstGeom prst="rect">
            <a:avLst/>
          </a:prstGeom>
        </p:spPr>
      </p:pic>
    </p:spTree>
    <p:extLst>
      <p:ext uri="{BB962C8B-B14F-4D97-AF65-F5344CB8AC3E}">
        <p14:creationId xmlns:p14="http://schemas.microsoft.com/office/powerpoint/2010/main" val="2697925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22A5E54E-7018-F612-5A6D-79599D5F7ABF}"/>
              </a:ext>
            </a:extLst>
          </p:cNvPr>
          <p:cNvGrpSpPr/>
          <p:nvPr/>
        </p:nvGrpSpPr>
        <p:grpSpPr>
          <a:xfrm>
            <a:off x="172237" y="1752601"/>
            <a:ext cx="4928401" cy="3028949"/>
            <a:chOff x="426299" y="5379223"/>
            <a:chExt cx="8333693" cy="5905500"/>
          </a:xfrm>
        </p:grpSpPr>
        <p:pic>
          <p:nvPicPr>
            <p:cNvPr id="32" name="Picture 31">
              <a:extLst>
                <a:ext uri="{FF2B5EF4-FFF2-40B4-BE49-F238E27FC236}">
                  <a16:creationId xmlns:a16="http://schemas.microsoft.com/office/drawing/2014/main" id="{5FDFA7B4-0FCC-6687-2BC6-1AF8A956E763}"/>
                </a:ext>
              </a:extLst>
            </p:cNvPr>
            <p:cNvPicPr>
              <a:picLocks noChangeAspect="1"/>
            </p:cNvPicPr>
            <p:nvPr/>
          </p:nvPicPr>
          <p:blipFill>
            <a:blip r:embed="rId3"/>
            <a:srcRect l="5502" t="10627" r="35586" b="15197"/>
            <a:stretch/>
          </p:blipFill>
          <p:spPr>
            <a:xfrm>
              <a:off x="426299" y="5379223"/>
              <a:ext cx="8333693" cy="5905500"/>
            </a:xfrm>
            <a:prstGeom prst="rect">
              <a:avLst/>
            </a:prstGeom>
          </p:spPr>
        </p:pic>
        <p:pic>
          <p:nvPicPr>
            <p:cNvPr id="38" name="Picture 37">
              <a:extLst>
                <a:ext uri="{FF2B5EF4-FFF2-40B4-BE49-F238E27FC236}">
                  <a16:creationId xmlns:a16="http://schemas.microsoft.com/office/drawing/2014/main" id="{F739DE27-EEAF-C010-281A-3309BFEBBF87}"/>
                </a:ext>
              </a:extLst>
            </p:cNvPr>
            <p:cNvPicPr>
              <a:picLocks noChangeAspect="1"/>
            </p:cNvPicPr>
            <p:nvPr/>
          </p:nvPicPr>
          <p:blipFill>
            <a:blip r:embed="rId4"/>
            <a:stretch>
              <a:fillRect/>
            </a:stretch>
          </p:blipFill>
          <p:spPr>
            <a:xfrm>
              <a:off x="8658867" y="7794506"/>
              <a:ext cx="101124" cy="609600"/>
            </a:xfrm>
            <a:prstGeom prst="rect">
              <a:avLst/>
            </a:prstGeom>
          </p:spPr>
        </p:pic>
      </p:grpSp>
      <p:sp>
        <p:nvSpPr>
          <p:cNvPr id="18" name="title">
            <a:extLst>
              <a:ext uri="{FF2B5EF4-FFF2-40B4-BE49-F238E27FC236}">
                <a16:creationId xmlns:a16="http://schemas.microsoft.com/office/drawing/2014/main" id="{D9B65CC4-32DB-486C-AC58-357757C8E298}"/>
              </a:ext>
            </a:extLst>
          </p:cNvPr>
          <p:cNvSpPr>
            <a:spLocks noGrp="1"/>
          </p:cNvSpPr>
          <p:nvPr/>
        </p:nvSpPr>
        <p:spPr>
          <a:xfrm>
            <a:off x="190500" y="971550"/>
            <a:ext cx="8343900" cy="421481"/>
          </a:xfrm>
          <a:prstGeom prst="rect">
            <a:avLst/>
          </a:prstGeom>
          <a:noFill/>
          <a:ln w="0">
            <a:noFill/>
            <a:prstDash val="solid"/>
          </a:ln>
        </p:spPr>
        <p:txBody>
          <a:bodyPr wrap="none" lIns="0" tIns="0" rIns="0" bIns="0" anchor="t">
            <a:noAutofit/>
          </a:bodyPr>
          <a:lstStyle>
            <a:defPPr algn="l">
              <a:defRPr sz="3450" b="1">
                <a:solidFill>
                  <a:srgbClr val="202D39"/>
                </a:solidFill>
                <a:latin typeface="Arial"/>
                <a:ea typeface="Arial"/>
                <a:cs typeface="Arial"/>
              </a:defRPr>
            </a:defPPr>
          </a:lstStyle>
          <a:p>
            <a:pPr algn="l">
              <a:defRPr sz="3450" b="1">
                <a:solidFill>
                  <a:srgbClr val="202D39"/>
                </a:solidFill>
                <a:latin typeface="Arial"/>
                <a:ea typeface="Arial"/>
                <a:cs typeface="Arial"/>
              </a:defRPr>
            </a:pPr>
            <a:r>
              <a:rPr sz="2588" b="1" dirty="0">
                <a:solidFill>
                  <a:srgbClr val="202D39"/>
                </a:solidFill>
                <a:latin typeface="Arial"/>
                <a:ea typeface="Arial"/>
                <a:cs typeface="Arial"/>
              </a:rPr>
              <a:t>What did we ask the LLM to do?</a:t>
            </a:r>
          </a:p>
        </p:txBody>
      </p:sp>
      <p:sp>
        <p:nvSpPr>
          <p:cNvPr id="19" name="subtitle">
            <a:extLst>
              <a:ext uri="{FF2B5EF4-FFF2-40B4-BE49-F238E27FC236}">
                <a16:creationId xmlns:a16="http://schemas.microsoft.com/office/drawing/2014/main" id="{7FD44641-36A6-4291-AD2E-A9EB078266CF}"/>
              </a:ext>
            </a:extLst>
          </p:cNvPr>
          <p:cNvSpPr>
            <a:spLocks noGrp="1"/>
          </p:cNvSpPr>
          <p:nvPr/>
        </p:nvSpPr>
        <p:spPr>
          <a:xfrm>
            <a:off x="190500" y="1464469"/>
            <a:ext cx="8343900" cy="250031"/>
          </a:xfrm>
          <a:prstGeom prst="rect">
            <a:avLst/>
          </a:prstGeom>
          <a:noFill/>
          <a:ln w="0">
            <a:noFill/>
            <a:prstDash val="solid"/>
          </a:ln>
        </p:spPr>
        <p:txBody>
          <a:bodyPr wrap="none" lIns="0" tIns="0" rIns="0" bIns="0" anchor="t">
            <a:noAutofit/>
          </a:bodyPr>
          <a:lstStyle>
            <a:defPPr algn="l">
              <a:defRPr sz="1950" b="0">
                <a:solidFill>
                  <a:srgbClr val="566B7B"/>
                </a:solidFill>
                <a:latin typeface="Arial"/>
                <a:ea typeface="Arial"/>
                <a:cs typeface="Arial"/>
              </a:defRPr>
            </a:defPPr>
          </a:lstStyle>
          <a:p>
            <a:pPr algn="l">
              <a:defRPr sz="1950" b="0">
                <a:solidFill>
                  <a:srgbClr val="566B7B"/>
                </a:solidFill>
                <a:latin typeface="Arial"/>
                <a:ea typeface="Arial"/>
                <a:cs typeface="Arial"/>
              </a:defRPr>
            </a:pPr>
            <a:r>
              <a:rPr sz="1463">
                <a:solidFill>
                  <a:srgbClr val="566B7B"/>
                </a:solidFill>
                <a:latin typeface="Arial"/>
                <a:ea typeface="Arial"/>
                <a:cs typeface="Arial"/>
              </a:rPr>
              <a:t>Numerical MRI measurements and clinical instructions. No task-specific fine-tuning.</a:t>
            </a:r>
          </a:p>
        </p:txBody>
      </p:sp>
      <p:graphicFrame>
        <p:nvGraphicFramePr>
          <p:cNvPr id="21" name="Table 20">
            <a:extLst>
              <a:ext uri="{FF2B5EF4-FFF2-40B4-BE49-F238E27FC236}">
                <a16:creationId xmlns:a16="http://schemas.microsoft.com/office/drawing/2014/main" id="{1B342F08-4477-425A-BE9D-386021EA980D}"/>
              </a:ext>
            </a:extLst>
          </p:cNvPr>
          <p:cNvGraphicFramePr/>
          <p:nvPr>
            <p:extLst>
              <p:ext uri="{D42A27DB-BD31-4B8C-83A1-F6EECF244321}">
                <p14:modId xmlns:p14="http://schemas.microsoft.com/office/powerpoint/2010/main" val="3647415274"/>
              </p:ext>
            </p:extLst>
          </p:nvPr>
        </p:nvGraphicFramePr>
        <p:xfrm>
          <a:off x="5329587" y="1878410"/>
          <a:ext cx="3657600" cy="2225993"/>
        </p:xfrm>
        <a:graphic>
          <a:graphicData uri="http://schemas.openxmlformats.org/drawingml/2006/table">
            <a:tbl>
              <a:tblPr/>
              <a:tblGrid>
                <a:gridCol w="1178966">
                  <a:extLst>
                    <a:ext uri="{9D8B030D-6E8A-4147-A177-3AD203B41FA5}">
                      <a16:colId xmlns:a16="http://schemas.microsoft.com/office/drawing/2014/main" val="20000"/>
                    </a:ext>
                  </a:extLst>
                </a:gridCol>
                <a:gridCol w="2478634">
                  <a:extLst>
                    <a:ext uri="{9D8B030D-6E8A-4147-A177-3AD203B41FA5}">
                      <a16:colId xmlns:a16="http://schemas.microsoft.com/office/drawing/2014/main" val="20001"/>
                    </a:ext>
                  </a:extLst>
                </a:gridCol>
              </a:tblGrid>
              <a:tr h="314325">
                <a:tc>
                  <a:txBody>
                    <a:bodyPr/>
                    <a:lstStyle/>
                    <a:p>
                      <a:r>
                        <a:rPr sz="1300" b="1" dirty="0">
                          <a:solidFill>
                            <a:srgbClr val="202D39"/>
                          </a:solidFill>
                          <a:latin typeface="Arial"/>
                          <a:ea typeface="Arial"/>
                          <a:cs typeface="Arial"/>
                        </a:rPr>
                        <a:t>Prompt</a:t>
                      </a:r>
                    </a:p>
                  </a:txBody>
                  <a:tcPr marL="68580" marR="68580" marT="34290" marB="34290" anchor="ctr">
                    <a:lnL w="9525">
                      <a:solidFill>
                        <a:srgbClr val="E1E8EE"/>
                      </a:solidFill>
                      <a:prstDash val="solid"/>
                    </a:lnL>
                    <a:lnR w="9525">
                      <a:solidFill>
                        <a:srgbClr val="E1E8EE"/>
                      </a:solidFill>
                      <a:prstDash val="solid"/>
                    </a:lnR>
                    <a:lnT w="9525">
                      <a:solidFill>
                        <a:srgbClr val="E1E8EE"/>
                      </a:solidFill>
                      <a:prstDash val="solid"/>
                    </a:lnT>
                    <a:lnB w="9525">
                      <a:solidFill>
                        <a:srgbClr val="E1E8EE"/>
                      </a:solidFill>
                      <a:prstDash val="solid"/>
                    </a:lnB>
                    <a:solidFill>
                      <a:srgbClr val="EEF4F9"/>
                    </a:solidFill>
                  </a:tcPr>
                </a:tc>
                <a:tc>
                  <a:txBody>
                    <a:bodyPr/>
                    <a:lstStyle/>
                    <a:p>
                      <a:r>
                        <a:rPr sz="1300" b="1">
                          <a:solidFill>
                            <a:srgbClr val="202D39"/>
                          </a:solidFill>
                          <a:latin typeface="Arial"/>
                          <a:ea typeface="Arial"/>
                          <a:cs typeface="Arial"/>
                        </a:rPr>
                        <a:t>What we ask</a:t>
                      </a:r>
                    </a:p>
                  </a:txBody>
                  <a:tcPr marL="68580" marR="68580" marT="34290" marB="34290" anchor="ctr">
                    <a:lnL w="9525" cap="flat" cmpd="sng" algn="ctr">
                      <a:solidFill>
                        <a:srgbClr val="E1E8EE"/>
                      </a:solidFill>
                      <a:prstDash val="solid"/>
                      <a:round/>
                      <a:headEnd type="none" w="med" len="med"/>
                      <a:tailEnd type="none" w="med" len="med"/>
                    </a:lnL>
                    <a:lnR w="9525">
                      <a:solidFill>
                        <a:srgbClr val="E1E8EE"/>
                      </a:solidFill>
                      <a:prstDash val="solid"/>
                    </a:lnR>
                    <a:lnT w="9525">
                      <a:solidFill>
                        <a:srgbClr val="E1E8EE"/>
                      </a:solidFill>
                      <a:prstDash val="solid"/>
                    </a:lnT>
                    <a:lnB w="9525">
                      <a:solidFill>
                        <a:srgbClr val="E1E8EE"/>
                      </a:solidFill>
                      <a:prstDash val="solid"/>
                    </a:lnB>
                    <a:solidFill>
                      <a:srgbClr val="EEF4F9"/>
                    </a:solidFill>
                  </a:tcPr>
                </a:tc>
                <a:extLst>
                  <a:ext uri="{0D108BD9-81ED-4DB2-BD59-A6C34878D82A}">
                    <a16:rowId xmlns:a16="http://schemas.microsoft.com/office/drawing/2014/main" val="10000"/>
                  </a:ext>
                </a:extLst>
              </a:tr>
              <a:tr h="457200">
                <a:tc>
                  <a:txBody>
                    <a:bodyPr/>
                    <a:lstStyle/>
                    <a:p>
                      <a:r>
                        <a:rPr sz="1400" b="1" dirty="0">
                          <a:solidFill>
                            <a:srgbClr val="202D39"/>
                          </a:solidFill>
                          <a:latin typeface="Arial"/>
                          <a:ea typeface="Arial"/>
                          <a:cs typeface="Arial"/>
                        </a:rPr>
                        <a:t>Direct</a:t>
                      </a:r>
                    </a:p>
                  </a:txBody>
                  <a:tcPr marL="68580" marR="68580" marT="34290" marB="34290" anchor="ctr">
                    <a:lnL w="9525">
                      <a:solidFill>
                        <a:srgbClr val="E1E8EE"/>
                      </a:solidFill>
                      <a:prstDash val="soli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tc>
                  <a:txBody>
                    <a:bodyPr/>
                    <a:lstStyle/>
                    <a:p>
                      <a:r>
                        <a:rPr sz="1500" b="0" dirty="0">
                          <a:solidFill>
                            <a:srgbClr val="202D39"/>
                          </a:solidFill>
                          <a:latin typeface="Arial"/>
                          <a:ea typeface="Arial"/>
                          <a:cs typeface="Arial"/>
                        </a:rPr>
                        <a:t>Choose one disease label</a:t>
                      </a:r>
                    </a:p>
                  </a:txBody>
                  <a:tcPr marL="68580" marR="68580" marT="34290" marB="34290" anchor="ctr">
                    <a:lnL w="9525" cap="flat" cmpd="sng" algn="ctr">
                      <a:solidFill>
                        <a:srgbClr val="E1E8EE"/>
                      </a:solidFill>
                      <a:prstDash val="solid"/>
                      <a:round/>
                      <a:headEnd type="none" w="med" len="med"/>
                      <a:tailEnd type="none" w="med" len="med"/>
                    </a:lnL>
                    <a:lnR w="9525">
                      <a:solidFill>
                        <a:srgbClr val="E1E8EE"/>
                      </a:solidFill>
                      <a:prstDash val="soli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extLst>
                  <a:ext uri="{0D108BD9-81ED-4DB2-BD59-A6C34878D82A}">
                    <a16:rowId xmlns:a16="http://schemas.microsoft.com/office/drawing/2014/main" val="10001"/>
                  </a:ext>
                </a:extLst>
              </a:tr>
              <a:tr h="700088">
                <a:tc>
                  <a:txBody>
                    <a:bodyPr/>
                    <a:lstStyle/>
                    <a:p>
                      <a:r>
                        <a:rPr sz="1400" b="1" dirty="0">
                          <a:solidFill>
                            <a:srgbClr val="202D39"/>
                          </a:solidFill>
                          <a:latin typeface="Arial"/>
                          <a:ea typeface="Arial"/>
                          <a:cs typeface="Arial"/>
                        </a:rPr>
                        <a:t>Stepwise</a:t>
                      </a:r>
                    </a:p>
                  </a:txBody>
                  <a:tcPr marL="68580" marR="68580" marT="34290" marB="34290" anchor="ctr">
                    <a:lnL w="9525">
                      <a:solidFill>
                        <a:srgbClr val="E1E8EE"/>
                      </a:solidFill>
                      <a:prstDash val="solid"/>
                    </a:lnL>
                    <a:lnR w="9525">
                      <a:solidFill>
                        <a:srgbClr val="E1E8EE"/>
                      </a:solidFill>
                      <a:prstDash val="soli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tc>
                  <a:txBody>
                    <a:bodyPr/>
                    <a:lstStyle/>
                    <a:p>
                      <a:r>
                        <a:rPr sz="1500" b="0" dirty="0">
                          <a:solidFill>
                            <a:srgbClr val="202D39"/>
                          </a:solidFill>
                          <a:latin typeface="Arial"/>
                          <a:ea typeface="Arial"/>
                          <a:cs typeface="Arial"/>
                        </a:rPr>
                        <a:t>Assess EF, then volume,</a:t>
                      </a:r>
                    </a:p>
                    <a:p>
                      <a:r>
                        <a:rPr sz="1500" b="0" dirty="0">
                          <a:solidFill>
                            <a:srgbClr val="202D39"/>
                          </a:solidFill>
                          <a:latin typeface="Arial"/>
                          <a:ea typeface="Arial"/>
                          <a:cs typeface="Arial"/>
                        </a:rPr>
                        <a:t>using supplied thresholds</a:t>
                      </a:r>
                    </a:p>
                  </a:txBody>
                  <a:tcPr marL="68580" marR="68580" marT="34290" marB="34290" anchor="ctr">
                    <a:lnL w="9525" cap="flat" cmpd="sng" algn="ctr">
                      <a:solidFill>
                        <a:srgbClr val="E1E8EE"/>
                      </a:solidFill>
                      <a:prstDash val="solid"/>
                      <a:round/>
                      <a:headEnd type="none" w="med" len="med"/>
                      <a:tailEnd type="none" w="med" len="med"/>
                    </a:lnL>
                    <a:lnR w="9525">
                      <a:solidFill>
                        <a:srgbClr val="E1E8EE"/>
                      </a:solidFill>
                      <a:prstDash val="soli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extLst>
                  <a:ext uri="{0D108BD9-81ED-4DB2-BD59-A6C34878D82A}">
                    <a16:rowId xmlns:a16="http://schemas.microsoft.com/office/drawing/2014/main" val="10002"/>
                  </a:ext>
                </a:extLst>
              </a:tr>
              <a:tr h="700088">
                <a:tc>
                  <a:txBody>
                    <a:bodyPr/>
                    <a:lstStyle/>
                    <a:p>
                      <a:r>
                        <a:rPr sz="1400" b="1">
                          <a:solidFill>
                            <a:srgbClr val="1264B0"/>
                          </a:solidFill>
                          <a:latin typeface="Arial"/>
                          <a:ea typeface="Arial"/>
                          <a:cs typeface="Arial"/>
                        </a:rPr>
                        <a:t>Calibrated</a:t>
                      </a:r>
                    </a:p>
                  </a:txBody>
                  <a:tcPr marL="68580" marR="68580" marT="34290" marB="34290" anchor="ctr">
                    <a:lnL w="9525">
                      <a:solidFill>
                        <a:srgbClr val="E1E8EE"/>
                      </a:solidFill>
                      <a:prstDash val="solid"/>
                    </a:lnL>
                    <a:lnR w="9525">
                      <a:solidFill>
                        <a:srgbClr val="E1E8EE"/>
                      </a:solidFill>
                      <a:prstDash val="soli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tc>
                  <a:txBody>
                    <a:bodyPr/>
                    <a:lstStyle/>
                    <a:p>
                      <a:r>
                        <a:rPr sz="1500" b="0" dirty="0">
                          <a:solidFill>
                            <a:srgbClr val="1264B0"/>
                          </a:solidFill>
                          <a:latin typeface="Arial"/>
                          <a:ea typeface="Arial"/>
                          <a:cs typeface="Arial"/>
                        </a:rPr>
                        <a:t>Use revised thresholds</a:t>
                      </a:r>
                    </a:p>
                    <a:p>
                      <a:r>
                        <a:rPr sz="1500" b="0" dirty="0">
                          <a:solidFill>
                            <a:srgbClr val="1264B0"/>
                          </a:solidFill>
                          <a:latin typeface="Arial"/>
                          <a:ea typeface="Arial"/>
                          <a:cs typeface="Arial"/>
                        </a:rPr>
                        <a:t>and one worked DCM example</a:t>
                      </a:r>
                    </a:p>
                  </a:txBody>
                  <a:tcPr marL="68580" marR="68580" marT="34290" marB="34290" anchor="ctr">
                    <a:lnL w="9525" cap="flat" cmpd="sng" algn="ctr">
                      <a:solidFill>
                        <a:srgbClr val="E1E8EE"/>
                      </a:solidFill>
                      <a:prstDash val="solid"/>
                      <a:round/>
                      <a:headEnd type="none" w="med" len="med"/>
                      <a:tailEnd type="none" w="med" len="med"/>
                    </a:lnL>
                    <a:lnR w="9525">
                      <a:solidFill>
                        <a:srgbClr val="E1E8EE"/>
                      </a:solidFill>
                      <a:prstDash val="solid"/>
                    </a:lnR>
                    <a:lnT w="9525" cap="flat" cmpd="sng" algn="ctr">
                      <a:solidFill>
                        <a:srgbClr val="E1E8EE"/>
                      </a:solidFill>
                      <a:prstDash val="solid"/>
                      <a:round/>
                      <a:headEnd type="none" w="med" len="med"/>
                      <a:tailEnd type="none" w="med" len="med"/>
                    </a:lnT>
                    <a:lnB w="9525">
                      <a:solidFill>
                        <a:srgbClr val="E1E8E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2" name="worked example">
            <a:extLst>
              <a:ext uri="{FF2B5EF4-FFF2-40B4-BE49-F238E27FC236}">
                <a16:creationId xmlns:a16="http://schemas.microsoft.com/office/drawing/2014/main" id="{538A3F41-4EB3-428C-B93B-4112AA8A3933}"/>
              </a:ext>
            </a:extLst>
          </p:cNvPr>
          <p:cNvSpPr>
            <a:spLocks noGrp="1"/>
          </p:cNvSpPr>
          <p:nvPr/>
        </p:nvSpPr>
        <p:spPr>
          <a:xfrm>
            <a:off x="5297639" y="4336257"/>
            <a:ext cx="4043364" cy="414338"/>
          </a:xfrm>
          <a:prstGeom prst="rect">
            <a:avLst/>
          </a:prstGeom>
          <a:noFill/>
          <a:ln w="0">
            <a:noFill/>
            <a:prstDash val="solid"/>
          </a:ln>
        </p:spPr>
        <p:txBody>
          <a:bodyPr wrap="none" lIns="0" tIns="0" rIns="0" bIns="0" anchor="t">
            <a:noAutofit/>
          </a:bodyPr>
          <a:lstStyle>
            <a:defPPr algn="l">
              <a:defRPr sz="1650" b="0">
                <a:solidFill>
                  <a:srgbClr val="566B7B"/>
                </a:solidFill>
                <a:latin typeface="Arial"/>
                <a:ea typeface="Arial"/>
                <a:cs typeface="Arial"/>
              </a:defRPr>
            </a:defPPr>
          </a:lstStyle>
          <a:p>
            <a:pPr algn="l">
              <a:defRPr sz="1650" b="0">
                <a:solidFill>
                  <a:srgbClr val="566B7B"/>
                </a:solidFill>
                <a:latin typeface="Arial"/>
                <a:ea typeface="Arial"/>
                <a:cs typeface="Arial"/>
              </a:defRPr>
            </a:pPr>
            <a:r>
              <a:rPr sz="1238" dirty="0">
                <a:solidFill>
                  <a:srgbClr val="566B7B"/>
                </a:solidFill>
                <a:latin typeface="Arial"/>
                <a:ea typeface="Arial"/>
                <a:cs typeface="Arial"/>
              </a:rPr>
              <a:t>Prompt example: EF 28%, EDV 310 mL, ESV 223 mL</a:t>
            </a:r>
          </a:p>
          <a:p>
            <a:pPr algn="l">
              <a:defRPr sz="1650" b="0">
                <a:solidFill>
                  <a:srgbClr val="566B7B"/>
                </a:solidFill>
                <a:latin typeface="Arial"/>
                <a:ea typeface="Arial"/>
                <a:cs typeface="Arial"/>
              </a:defRPr>
            </a:pPr>
            <a:r>
              <a:rPr sz="1238" dirty="0">
                <a:solidFill>
                  <a:srgbClr val="566B7B"/>
                </a:solidFill>
                <a:latin typeface="Arial"/>
                <a:ea typeface="Arial"/>
                <a:cs typeface="Arial"/>
              </a:rPr>
              <a:t>Reduced function + dilated cavity. Label: DCM.</a:t>
            </a:r>
          </a:p>
        </p:txBody>
      </p:sp>
      <p:sp>
        <p:nvSpPr>
          <p:cNvPr id="23" name="text input">
            <a:extLst>
              <a:ext uri="{FF2B5EF4-FFF2-40B4-BE49-F238E27FC236}">
                <a16:creationId xmlns:a16="http://schemas.microsoft.com/office/drawing/2014/main" id="{6B1E4A9F-D13A-4DA3-BB0D-587C2826C01F}"/>
              </a:ext>
            </a:extLst>
          </p:cNvPr>
          <p:cNvSpPr>
            <a:spLocks noGrp="1"/>
          </p:cNvSpPr>
          <p:nvPr/>
        </p:nvSpPr>
        <p:spPr>
          <a:xfrm>
            <a:off x="400050" y="4726781"/>
            <a:ext cx="3643313" cy="207169"/>
          </a:xfrm>
          <a:prstGeom prst="rect">
            <a:avLst/>
          </a:prstGeom>
          <a:noFill/>
          <a:ln w="0">
            <a:noFill/>
            <a:prstDash val="solid"/>
          </a:ln>
        </p:spPr>
        <p:txBody>
          <a:bodyPr wrap="none" lIns="0" tIns="0" rIns="0" bIns="0" anchor="t">
            <a:noAutofit/>
          </a:bodyPr>
          <a:lstStyle>
            <a:defPPr algn="l">
              <a:defRPr sz="1650" b="1">
                <a:solidFill>
                  <a:srgbClr val="5825A2"/>
                </a:solidFill>
                <a:latin typeface="Arial"/>
                <a:ea typeface="Arial"/>
                <a:cs typeface="Arial"/>
              </a:defRPr>
            </a:defPPr>
          </a:lstStyle>
          <a:p>
            <a:pPr algn="l">
              <a:defRPr sz="1650" b="1">
                <a:solidFill>
                  <a:srgbClr val="5825A2"/>
                </a:solidFill>
                <a:latin typeface="Arial"/>
                <a:ea typeface="Arial"/>
                <a:cs typeface="Arial"/>
              </a:defRPr>
            </a:pPr>
            <a:r>
              <a:rPr sz="1238" b="1" dirty="0">
                <a:solidFill>
                  <a:srgbClr val="5825A2"/>
                </a:solidFill>
                <a:latin typeface="Arial"/>
                <a:ea typeface="Arial"/>
                <a:cs typeface="Arial"/>
              </a:rPr>
              <a:t>LLM input: EF, EDV and ESV as text</a:t>
            </a:r>
          </a:p>
        </p:txBody>
      </p:sp>
      <p:sp>
        <p:nvSpPr>
          <p:cNvPr id="24" name="reference metric scope">
            <a:extLst>
              <a:ext uri="{FF2B5EF4-FFF2-40B4-BE49-F238E27FC236}">
                <a16:creationId xmlns:a16="http://schemas.microsoft.com/office/drawing/2014/main" id="{5D161B8F-2E63-4E96-AED8-4D84649544D5}"/>
              </a:ext>
            </a:extLst>
          </p:cNvPr>
          <p:cNvSpPr>
            <a:spLocks noGrp="1"/>
          </p:cNvSpPr>
          <p:nvPr/>
        </p:nvSpPr>
        <p:spPr>
          <a:xfrm>
            <a:off x="400050" y="4944156"/>
            <a:ext cx="8343900" cy="171450"/>
          </a:xfrm>
          <a:prstGeom prst="rect">
            <a:avLst/>
          </a:prstGeom>
          <a:noFill/>
          <a:ln w="0">
            <a:noFill/>
            <a:prstDash val="solid"/>
          </a:ln>
        </p:spPr>
        <p:txBody>
          <a:bodyPr wrap="none" lIns="0" tIns="0" rIns="0" bIns="0" anchor="t">
            <a:noAutofit/>
          </a:bodyPr>
          <a:lstStyle>
            <a:defPPr algn="l">
              <a:defRPr sz="1463" b="0">
                <a:solidFill>
                  <a:srgbClr val="566B7B"/>
                </a:solidFill>
                <a:latin typeface="Arial"/>
                <a:ea typeface="Arial"/>
                <a:cs typeface="Arial"/>
              </a:defRPr>
            </a:defPPr>
          </a:lstStyle>
          <a:p>
            <a:pPr algn="l">
              <a:defRPr sz="1463" b="0">
                <a:solidFill>
                  <a:srgbClr val="566B7B"/>
                </a:solidFill>
                <a:latin typeface="Arial"/>
                <a:ea typeface="Arial"/>
                <a:cs typeface="Arial"/>
              </a:defRPr>
            </a:pPr>
            <a:r>
              <a:rPr sz="1097" dirty="0">
                <a:solidFill>
                  <a:srgbClr val="566B7B"/>
                </a:solidFill>
                <a:latin typeface="Arial"/>
                <a:ea typeface="Arial"/>
                <a:cs typeface="Arial"/>
              </a:rPr>
              <a:t>Reference LV metrics. 20 ACDC patients across 5 classes, with 4 cases per class.</a:t>
            </a:r>
          </a:p>
        </p:txBody>
      </p:sp>
      <p:pic>
        <p:nvPicPr>
          <p:cNvPr id="8" name="Picture 7">
            <a:extLst>
              <a:ext uri="{FF2B5EF4-FFF2-40B4-BE49-F238E27FC236}">
                <a16:creationId xmlns:a16="http://schemas.microsoft.com/office/drawing/2014/main" id="{110B5AAF-5B77-2651-8F6C-DA6B5D169FC5}"/>
              </a:ext>
            </a:extLst>
          </p:cNvPr>
          <p:cNvPicPr>
            <a:picLocks noChangeAspect="1"/>
          </p:cNvPicPr>
          <p:nvPr/>
        </p:nvPicPr>
        <p:blipFill>
          <a:blip r:embed="rId5"/>
          <a:stretch/>
        </p:blipFill>
        <p:spPr>
          <a:xfrm>
            <a:off x="29028" y="44110"/>
            <a:ext cx="3190015" cy="630238"/>
          </a:xfrm>
          <a:prstGeom prst="rect">
            <a:avLst/>
          </a:prstGeom>
        </p:spPr>
      </p:pic>
      <p:sp>
        <p:nvSpPr>
          <p:cNvPr id="9" name="SMRA red header rule">
            <a:extLst>
              <a:ext uri="{FF2B5EF4-FFF2-40B4-BE49-F238E27FC236}">
                <a16:creationId xmlns:a16="http://schemas.microsoft.com/office/drawing/2014/main" id="{00DA69B2-CC52-37EC-336A-DCFEDE538D3E}"/>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10" name="Purdue gold header accent">
            <a:extLst>
              <a:ext uri="{FF2B5EF4-FFF2-40B4-BE49-F238E27FC236}">
                <a16:creationId xmlns:a16="http://schemas.microsoft.com/office/drawing/2014/main" id="{880E013D-B173-0BC5-94CA-00B3F72FAE56}"/>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pic>
        <p:nvPicPr>
          <p:cNvPr id="11" name="Picture 10">
            <a:extLst>
              <a:ext uri="{FF2B5EF4-FFF2-40B4-BE49-F238E27FC236}">
                <a16:creationId xmlns:a16="http://schemas.microsoft.com/office/drawing/2014/main" id="{0F36B337-AF1E-729A-A3BE-2E21FB663958}"/>
              </a:ext>
            </a:extLst>
          </p:cNvPr>
          <p:cNvPicPr>
            <a:picLocks noChangeAspect="1"/>
          </p:cNvPicPr>
          <p:nvPr/>
        </p:nvPicPr>
        <p:blipFill>
          <a:blip r:embed="rId6"/>
          <a:srcRect t="16545" r="5085" b="15652"/>
          <a:stretch>
            <a:fillRect/>
          </a:stretch>
        </p:blipFill>
        <p:spPr>
          <a:xfrm>
            <a:off x="5334000" y="44109"/>
            <a:ext cx="3810000" cy="748393"/>
          </a:xfrm>
          <a:prstGeom prst="rect">
            <a:avLst/>
          </a:prstGeom>
        </p:spPr>
      </p:pic>
      <p:sp>
        <p:nvSpPr>
          <p:cNvPr id="33" name="Cine MRI image replacement area">
            <a:extLst>
              <a:ext uri="{FF2B5EF4-FFF2-40B4-BE49-F238E27FC236}">
                <a16:creationId xmlns:a16="http://schemas.microsoft.com/office/drawing/2014/main" id="{65D8AA67-419E-23DE-F81A-43C9F89BD63A}"/>
              </a:ext>
            </a:extLst>
          </p:cNvPr>
          <p:cNvSpPr>
            <a:spLocks noGrp="1"/>
          </p:cNvSpPr>
          <p:nvPr/>
        </p:nvSpPr>
        <p:spPr>
          <a:xfrm>
            <a:off x="280036" y="2186513"/>
            <a:ext cx="705104" cy="1851566"/>
          </a:xfrm>
          <a:prstGeom prst="rect">
            <a:avLst/>
          </a:prstGeom>
          <a:solidFill>
            <a:srgbClr val="FFFFFF"/>
          </a:solidFill>
          <a:ln w="0">
            <a:noFill/>
            <a:prstDash val="solid"/>
          </a:ln>
        </p:spPr>
        <p:txBody>
          <a:bodyPr/>
          <a:lstStyle/>
          <a:p>
            <a:endParaRPr lang="en-US"/>
          </a:p>
        </p:txBody>
      </p:sp>
      <p:sp>
        <p:nvSpPr>
          <p:cNvPr id="35" name="Cine animation label">
            <a:extLst>
              <a:ext uri="{FF2B5EF4-FFF2-40B4-BE49-F238E27FC236}">
                <a16:creationId xmlns:a16="http://schemas.microsoft.com/office/drawing/2014/main" id="{9C370373-4F70-CC41-19DC-5D3E0C86DCDD}"/>
              </a:ext>
            </a:extLst>
          </p:cNvPr>
          <p:cNvSpPr>
            <a:spLocks noGrp="1"/>
          </p:cNvSpPr>
          <p:nvPr/>
        </p:nvSpPr>
        <p:spPr>
          <a:xfrm>
            <a:off x="-24764" y="2982801"/>
            <a:ext cx="1421381" cy="228436"/>
          </a:xfrm>
          <a:prstGeom prst="rect">
            <a:avLst/>
          </a:prstGeom>
          <a:noFill/>
          <a:ln w="0">
            <a:noFill/>
            <a:prstDash val="solid"/>
          </a:ln>
        </p:spPr>
        <p:txBody>
          <a:bodyPr wrap="none" lIns="0" tIns="0" rIns="0" bIns="0" anchor="ctr">
            <a:noAutofit/>
          </a:bodyPr>
          <a:lstStyle>
            <a:defPPr algn="ctr">
              <a:defRPr sz="1133" b="0">
                <a:solidFill>
                  <a:srgbClr val="202D39"/>
                </a:solidFill>
                <a:latin typeface="Arial"/>
                <a:ea typeface="Arial"/>
                <a:cs typeface="Arial"/>
              </a:defRPr>
            </a:defPPr>
            <a:lvl1pPr algn="ctr">
              <a:defRPr sz="1133" b="0">
                <a:solidFill>
                  <a:srgbClr val="202D39"/>
                </a:solidFill>
                <a:latin typeface="Arial"/>
                <a:ea typeface="Arial"/>
                <a:cs typeface="Arial"/>
              </a:defRPr>
            </a:lvl1pPr>
            <a:lvl2pPr algn="ctr">
              <a:defRPr sz="1133" b="0">
                <a:solidFill>
                  <a:srgbClr val="202D39"/>
                </a:solidFill>
                <a:latin typeface="Arial"/>
                <a:ea typeface="Arial"/>
                <a:cs typeface="Arial"/>
              </a:defRPr>
            </a:lvl2pPr>
            <a:lvl3pPr algn="ctr">
              <a:defRPr sz="1133" b="0">
                <a:solidFill>
                  <a:srgbClr val="202D39"/>
                </a:solidFill>
                <a:latin typeface="Arial"/>
                <a:ea typeface="Arial"/>
                <a:cs typeface="Arial"/>
              </a:defRPr>
            </a:lvl3pPr>
            <a:lvl4pPr algn="ctr">
              <a:defRPr sz="1133" b="0">
                <a:solidFill>
                  <a:srgbClr val="202D39"/>
                </a:solidFill>
                <a:latin typeface="Arial"/>
                <a:ea typeface="Arial"/>
                <a:cs typeface="Arial"/>
              </a:defRPr>
            </a:lvl4pPr>
            <a:lvl5pPr algn="ctr">
              <a:defRPr sz="1133" b="0">
                <a:solidFill>
                  <a:srgbClr val="202D39"/>
                </a:solidFill>
                <a:latin typeface="Arial"/>
                <a:ea typeface="Arial"/>
                <a:cs typeface="Arial"/>
              </a:defRPr>
            </a:lvl5pPr>
            <a:lvl6pPr algn="ctr">
              <a:defRPr sz="1133" b="0">
                <a:solidFill>
                  <a:srgbClr val="202D39"/>
                </a:solidFill>
                <a:latin typeface="Arial"/>
                <a:ea typeface="Arial"/>
                <a:cs typeface="Arial"/>
              </a:defRPr>
            </a:lvl6pPr>
            <a:lvl7pPr algn="ctr">
              <a:defRPr sz="1133" b="0">
                <a:solidFill>
                  <a:srgbClr val="202D39"/>
                </a:solidFill>
                <a:latin typeface="Arial"/>
                <a:ea typeface="Arial"/>
                <a:cs typeface="Arial"/>
              </a:defRPr>
            </a:lvl7pPr>
            <a:lvl8pPr algn="ctr">
              <a:defRPr sz="1133" b="0">
                <a:solidFill>
                  <a:srgbClr val="202D39"/>
                </a:solidFill>
                <a:latin typeface="Arial"/>
                <a:ea typeface="Arial"/>
                <a:cs typeface="Arial"/>
              </a:defRPr>
            </a:lvl8pPr>
            <a:lvl9pPr algn="ctr">
              <a:defRPr sz="1133" b="0">
                <a:solidFill>
                  <a:srgbClr val="202D39"/>
                </a:solidFill>
                <a:latin typeface="Arial"/>
                <a:ea typeface="Arial"/>
                <a:cs typeface="Arial"/>
              </a:defRPr>
            </a:lvl9pPr>
          </a:lstStyle>
          <a:p>
            <a:pPr algn="ctr">
              <a:defRPr sz="1133" b="0">
                <a:solidFill>
                  <a:srgbClr val="202D39"/>
                </a:solidFill>
                <a:latin typeface="Arial"/>
                <a:ea typeface="Arial"/>
                <a:cs typeface="Arial"/>
              </a:defRPr>
            </a:pPr>
            <a:r>
              <a:rPr sz="800" b="0" dirty="0">
                <a:solidFill>
                  <a:srgbClr val="202D39"/>
                </a:solidFill>
                <a:latin typeface="Arial"/>
                <a:ea typeface="Arial"/>
                <a:cs typeface="Arial"/>
              </a:rPr>
              <a:t>Cine MRI</a:t>
            </a:r>
          </a:p>
        </p:txBody>
      </p:sp>
      <p:sp>
        <p:nvSpPr>
          <p:cNvPr id="37" name="Segmentation animation label">
            <a:extLst>
              <a:ext uri="{FF2B5EF4-FFF2-40B4-BE49-F238E27FC236}">
                <a16:creationId xmlns:a16="http://schemas.microsoft.com/office/drawing/2014/main" id="{6819E3A2-611F-A549-10CD-C193A1C9DF07}"/>
              </a:ext>
            </a:extLst>
          </p:cNvPr>
          <p:cNvSpPr>
            <a:spLocks noGrp="1"/>
          </p:cNvSpPr>
          <p:nvPr/>
        </p:nvSpPr>
        <p:spPr>
          <a:xfrm>
            <a:off x="-24764" y="3885843"/>
            <a:ext cx="1421381" cy="228436"/>
          </a:xfrm>
          <a:prstGeom prst="rect">
            <a:avLst/>
          </a:prstGeom>
          <a:noFill/>
          <a:ln w="0">
            <a:noFill/>
            <a:prstDash val="solid"/>
          </a:ln>
        </p:spPr>
        <p:txBody>
          <a:bodyPr wrap="none" lIns="0" tIns="0" rIns="0" bIns="0" anchor="ctr">
            <a:noAutofit/>
          </a:bodyPr>
          <a:lstStyle>
            <a:defPPr algn="ctr">
              <a:defRPr sz="1133" b="0">
                <a:solidFill>
                  <a:srgbClr val="202D39"/>
                </a:solidFill>
                <a:latin typeface="Arial"/>
                <a:ea typeface="Arial"/>
                <a:cs typeface="Arial"/>
              </a:defRPr>
            </a:defPPr>
            <a:lvl1pPr algn="ctr">
              <a:defRPr sz="1133" b="0">
                <a:solidFill>
                  <a:srgbClr val="202D39"/>
                </a:solidFill>
                <a:latin typeface="Arial"/>
                <a:ea typeface="Arial"/>
                <a:cs typeface="Arial"/>
              </a:defRPr>
            </a:lvl1pPr>
            <a:lvl2pPr algn="ctr">
              <a:defRPr sz="1133" b="0">
                <a:solidFill>
                  <a:srgbClr val="202D39"/>
                </a:solidFill>
                <a:latin typeface="Arial"/>
                <a:ea typeface="Arial"/>
                <a:cs typeface="Arial"/>
              </a:defRPr>
            </a:lvl2pPr>
            <a:lvl3pPr algn="ctr">
              <a:defRPr sz="1133" b="0">
                <a:solidFill>
                  <a:srgbClr val="202D39"/>
                </a:solidFill>
                <a:latin typeface="Arial"/>
                <a:ea typeface="Arial"/>
                <a:cs typeface="Arial"/>
              </a:defRPr>
            </a:lvl3pPr>
            <a:lvl4pPr algn="ctr">
              <a:defRPr sz="1133" b="0">
                <a:solidFill>
                  <a:srgbClr val="202D39"/>
                </a:solidFill>
                <a:latin typeface="Arial"/>
                <a:ea typeface="Arial"/>
                <a:cs typeface="Arial"/>
              </a:defRPr>
            </a:lvl4pPr>
            <a:lvl5pPr algn="ctr">
              <a:defRPr sz="1133" b="0">
                <a:solidFill>
                  <a:srgbClr val="202D39"/>
                </a:solidFill>
                <a:latin typeface="Arial"/>
                <a:ea typeface="Arial"/>
                <a:cs typeface="Arial"/>
              </a:defRPr>
            </a:lvl5pPr>
            <a:lvl6pPr algn="ctr">
              <a:defRPr sz="1133" b="0">
                <a:solidFill>
                  <a:srgbClr val="202D39"/>
                </a:solidFill>
                <a:latin typeface="Arial"/>
                <a:ea typeface="Arial"/>
                <a:cs typeface="Arial"/>
              </a:defRPr>
            </a:lvl6pPr>
            <a:lvl7pPr algn="ctr">
              <a:defRPr sz="1133" b="0">
                <a:solidFill>
                  <a:srgbClr val="202D39"/>
                </a:solidFill>
                <a:latin typeface="Arial"/>
                <a:ea typeface="Arial"/>
                <a:cs typeface="Arial"/>
              </a:defRPr>
            </a:lvl7pPr>
            <a:lvl8pPr algn="ctr">
              <a:defRPr sz="1133" b="0">
                <a:solidFill>
                  <a:srgbClr val="202D39"/>
                </a:solidFill>
                <a:latin typeface="Arial"/>
                <a:ea typeface="Arial"/>
                <a:cs typeface="Arial"/>
              </a:defRPr>
            </a:lvl8pPr>
            <a:lvl9pPr algn="ctr">
              <a:defRPr sz="1133" b="0">
                <a:solidFill>
                  <a:srgbClr val="202D39"/>
                </a:solidFill>
                <a:latin typeface="Arial"/>
                <a:ea typeface="Arial"/>
                <a:cs typeface="Arial"/>
              </a:defRPr>
            </a:lvl9pPr>
          </a:lstStyle>
          <a:p>
            <a:pPr algn="ctr">
              <a:defRPr sz="1133" b="0">
                <a:solidFill>
                  <a:srgbClr val="202D39"/>
                </a:solidFill>
                <a:latin typeface="Arial"/>
                <a:ea typeface="Arial"/>
                <a:cs typeface="Arial"/>
              </a:defRPr>
            </a:pPr>
            <a:r>
              <a:rPr sz="800" b="0" dirty="0">
                <a:solidFill>
                  <a:srgbClr val="202D39"/>
                </a:solidFill>
                <a:latin typeface="Arial"/>
                <a:ea typeface="Arial"/>
                <a:cs typeface="Arial"/>
              </a:rPr>
              <a:t>Segmentation</a:t>
            </a:r>
          </a:p>
        </p:txBody>
      </p:sp>
      <p:pic>
        <p:nvPicPr>
          <p:cNvPr id="44" name="Picture 43">
            <a:extLst>
              <a:ext uri="{FF2B5EF4-FFF2-40B4-BE49-F238E27FC236}">
                <a16:creationId xmlns:a16="http://schemas.microsoft.com/office/drawing/2014/main" id="{0D21E43C-3169-3558-7AF9-A5542FAD9071}"/>
              </a:ext>
            </a:extLst>
          </p:cNvPr>
          <p:cNvPicPr>
            <a:picLocks noChangeAspect="1"/>
          </p:cNvPicPr>
          <p:nvPr/>
        </p:nvPicPr>
        <p:blipFill>
          <a:blip r:embed="rId7"/>
          <a:stretch>
            <a:fillRect/>
          </a:stretch>
        </p:blipFill>
        <p:spPr>
          <a:xfrm>
            <a:off x="304800" y="2256950"/>
            <a:ext cx="762254" cy="762254"/>
          </a:xfrm>
          <a:prstGeom prst="rect">
            <a:avLst/>
          </a:prstGeom>
        </p:spPr>
      </p:pic>
      <p:pic>
        <p:nvPicPr>
          <p:cNvPr id="46" name="Picture 45">
            <a:extLst>
              <a:ext uri="{FF2B5EF4-FFF2-40B4-BE49-F238E27FC236}">
                <a16:creationId xmlns:a16="http://schemas.microsoft.com/office/drawing/2014/main" id="{6F9018F8-79EA-B0CE-132F-7A175651B724}"/>
              </a:ext>
            </a:extLst>
          </p:cNvPr>
          <p:cNvPicPr>
            <a:picLocks noChangeAspect="1"/>
          </p:cNvPicPr>
          <p:nvPr/>
        </p:nvPicPr>
        <p:blipFill>
          <a:blip r:embed="rId8"/>
          <a:stretch>
            <a:fillRect/>
          </a:stretch>
        </p:blipFill>
        <p:spPr>
          <a:xfrm>
            <a:off x="304799" y="3176859"/>
            <a:ext cx="762254" cy="762254"/>
          </a:xfrm>
          <a:prstGeom prst="rect">
            <a:avLst/>
          </a:prstGeom>
        </p:spPr>
      </p:pic>
    </p:spTree>
    <p:extLst>
      <p:ext uri="{BB962C8B-B14F-4D97-AF65-F5344CB8AC3E}">
        <p14:creationId xmlns:p14="http://schemas.microsoft.com/office/powerpoint/2010/main" val="276214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7D7A979A-851A-4D8E-9C38-2E7D8277514F}"/>
              </a:ext>
            </a:extLst>
          </p:cNvPr>
          <p:cNvSpPr>
            <a:spLocks noGrp="1"/>
          </p:cNvSpPr>
          <p:nvPr/>
        </p:nvSpPr>
        <p:spPr>
          <a:xfrm>
            <a:off x="400050" y="1107282"/>
            <a:ext cx="8343900" cy="421481"/>
          </a:xfrm>
          <a:prstGeom prst="rect">
            <a:avLst/>
          </a:prstGeom>
          <a:noFill/>
          <a:ln w="0">
            <a:noFill/>
            <a:prstDash val="solid"/>
          </a:ln>
        </p:spPr>
        <p:txBody>
          <a:bodyPr wrap="none" lIns="0" tIns="0" rIns="0" bIns="0" anchor="t">
            <a:noAutofit/>
          </a:bodyPr>
          <a:lstStyle>
            <a:defPPr algn="l">
              <a:defRPr sz="3375" b="1">
                <a:solidFill>
                  <a:srgbClr val="202D39"/>
                </a:solidFill>
                <a:latin typeface="Arial"/>
                <a:ea typeface="Arial"/>
                <a:cs typeface="Arial"/>
              </a:defRPr>
            </a:defPPr>
          </a:lstStyle>
          <a:p>
            <a:pPr algn="l">
              <a:defRPr sz="3375" b="1">
                <a:solidFill>
                  <a:srgbClr val="202D39"/>
                </a:solidFill>
                <a:latin typeface="Arial"/>
                <a:ea typeface="Arial"/>
                <a:cs typeface="Arial"/>
              </a:defRPr>
            </a:pPr>
            <a:r>
              <a:rPr sz="2531" b="1" dirty="0">
                <a:solidFill>
                  <a:srgbClr val="202D39"/>
                </a:solidFill>
                <a:latin typeface="Arial"/>
                <a:ea typeface="Arial"/>
                <a:cs typeface="Arial"/>
              </a:rPr>
              <a:t>Revised criteria + an example reached 60%</a:t>
            </a:r>
          </a:p>
        </p:txBody>
      </p:sp>
      <p:sp>
        <p:nvSpPr>
          <p:cNvPr id="17" name="subtitle">
            <a:extLst>
              <a:ext uri="{FF2B5EF4-FFF2-40B4-BE49-F238E27FC236}">
                <a16:creationId xmlns:a16="http://schemas.microsoft.com/office/drawing/2014/main" id="{AF5A7321-20DE-4A43-A9FC-D78AF5C90F70}"/>
              </a:ext>
            </a:extLst>
          </p:cNvPr>
          <p:cNvSpPr>
            <a:spLocks noGrp="1"/>
          </p:cNvSpPr>
          <p:nvPr/>
        </p:nvSpPr>
        <p:spPr>
          <a:xfrm>
            <a:off x="400050" y="1600201"/>
            <a:ext cx="8343900" cy="250031"/>
          </a:xfrm>
          <a:prstGeom prst="rect">
            <a:avLst/>
          </a:prstGeom>
          <a:noFill/>
          <a:ln w="0">
            <a:noFill/>
            <a:prstDash val="solid"/>
          </a:ln>
        </p:spPr>
        <p:txBody>
          <a:bodyPr wrap="none" lIns="0" tIns="0" rIns="0" bIns="0" anchor="t">
            <a:noAutofit/>
          </a:bodyPr>
          <a:lstStyle>
            <a:defPPr algn="l">
              <a:defRPr sz="2025" b="0">
                <a:solidFill>
                  <a:srgbClr val="566B7B"/>
                </a:solidFill>
                <a:latin typeface="Arial"/>
                <a:ea typeface="Arial"/>
                <a:cs typeface="Arial"/>
              </a:defRPr>
            </a:defPPr>
          </a:lstStyle>
          <a:p>
            <a:pPr algn="l">
              <a:defRPr sz="2025" b="0">
                <a:solidFill>
                  <a:srgbClr val="566B7B"/>
                </a:solidFill>
                <a:latin typeface="Arial"/>
                <a:ea typeface="Arial"/>
                <a:cs typeface="Arial"/>
              </a:defRPr>
            </a:pPr>
            <a:r>
              <a:rPr sz="1519">
                <a:solidFill>
                  <a:srgbClr val="566B7B"/>
                </a:solidFill>
                <a:latin typeface="Arial"/>
                <a:ea typeface="Arial"/>
                <a:cs typeface="Arial"/>
              </a:rPr>
              <a:t>Same LLM and reference measurements, different text instructions</a:t>
            </a:r>
          </a:p>
        </p:txBody>
      </p:sp>
      <p:graphicFrame>
        <p:nvGraphicFramePr>
          <p:cNvPr id="18" name="Chart">
            <a:extLst>
              <a:ext uri="{FF2B5EF4-FFF2-40B4-BE49-F238E27FC236}">
                <a16:creationId xmlns:a16="http://schemas.microsoft.com/office/drawing/2014/main" id="{1F3D7CE2-8B24-43F9-A047-A8C7474BD30A}"/>
              </a:ext>
            </a:extLst>
          </p:cNvPr>
          <p:cNvGraphicFramePr/>
          <p:nvPr/>
        </p:nvGraphicFramePr>
        <p:xfrm>
          <a:off x="300037" y="2007394"/>
          <a:ext cx="6415088" cy="2343150"/>
        </p:xfrm>
        <a:graphic>
          <a:graphicData uri="http://schemas.openxmlformats.org/drawingml/2006/chart">
            <c:chart xmlns:c="http://schemas.openxmlformats.org/drawingml/2006/chart" xmlns:r="http://schemas.openxmlformats.org/officeDocument/2006/relationships" r:id="rId3"/>
          </a:graphicData>
        </a:graphic>
      </p:graphicFrame>
      <p:sp>
        <p:nvSpPr>
          <p:cNvPr id="19" name="correct count">
            <a:extLst>
              <a:ext uri="{FF2B5EF4-FFF2-40B4-BE49-F238E27FC236}">
                <a16:creationId xmlns:a16="http://schemas.microsoft.com/office/drawing/2014/main" id="{B5EFAB41-38C5-46E5-A76E-A79E77C40A19}"/>
              </a:ext>
            </a:extLst>
          </p:cNvPr>
          <p:cNvSpPr>
            <a:spLocks noGrp="1"/>
          </p:cNvSpPr>
          <p:nvPr/>
        </p:nvSpPr>
        <p:spPr>
          <a:xfrm>
            <a:off x="6929437" y="2250282"/>
            <a:ext cx="1814513" cy="750094"/>
          </a:xfrm>
          <a:prstGeom prst="rect">
            <a:avLst/>
          </a:prstGeom>
          <a:noFill/>
          <a:ln w="0">
            <a:noFill/>
            <a:prstDash val="solid"/>
          </a:ln>
        </p:spPr>
        <p:txBody>
          <a:bodyPr wrap="none" lIns="0" tIns="0" rIns="0" bIns="0" anchor="t">
            <a:noAutofit/>
          </a:bodyPr>
          <a:lstStyle>
            <a:defPPr algn="l">
              <a:defRPr sz="6600" b="1">
                <a:solidFill>
                  <a:srgbClr val="1264B0"/>
                </a:solidFill>
                <a:latin typeface="Arial"/>
                <a:ea typeface="Arial"/>
                <a:cs typeface="Arial"/>
              </a:defRPr>
            </a:defPPr>
          </a:lstStyle>
          <a:p>
            <a:pPr algn="l">
              <a:defRPr sz="6600" b="1">
                <a:solidFill>
                  <a:srgbClr val="1264B0"/>
                </a:solidFill>
                <a:latin typeface="Arial"/>
                <a:ea typeface="Arial"/>
                <a:cs typeface="Arial"/>
              </a:defRPr>
            </a:pPr>
            <a:r>
              <a:rPr sz="4950" b="1">
                <a:solidFill>
                  <a:srgbClr val="1264B0"/>
                </a:solidFill>
                <a:latin typeface="Arial"/>
                <a:ea typeface="Arial"/>
                <a:cs typeface="Arial"/>
              </a:rPr>
              <a:t>12/20</a:t>
            </a:r>
          </a:p>
        </p:txBody>
      </p:sp>
      <p:sp>
        <p:nvSpPr>
          <p:cNvPr id="20" name="correct count caption">
            <a:extLst>
              <a:ext uri="{FF2B5EF4-FFF2-40B4-BE49-F238E27FC236}">
                <a16:creationId xmlns:a16="http://schemas.microsoft.com/office/drawing/2014/main" id="{6B54FF96-6AAA-4F1E-99F7-6052ACCB6F73}"/>
              </a:ext>
            </a:extLst>
          </p:cNvPr>
          <p:cNvSpPr>
            <a:spLocks noGrp="1"/>
          </p:cNvSpPr>
          <p:nvPr/>
        </p:nvSpPr>
        <p:spPr>
          <a:xfrm>
            <a:off x="6958012" y="3028950"/>
            <a:ext cx="1785938" cy="321469"/>
          </a:xfrm>
          <a:prstGeom prst="rect">
            <a:avLst/>
          </a:prstGeom>
          <a:noFill/>
          <a:ln w="0">
            <a:noFill/>
            <a:prstDash val="solid"/>
          </a:ln>
        </p:spPr>
        <p:txBody>
          <a:bodyPr wrap="none" lIns="0" tIns="0" rIns="0" bIns="0" anchor="t">
            <a:noAutofit/>
          </a:bodyPr>
          <a:lstStyle>
            <a:defPPr algn="l">
              <a:defRPr sz="2175" b="1">
                <a:solidFill>
                  <a:srgbClr val="202D39"/>
                </a:solidFill>
                <a:latin typeface="Arial"/>
                <a:ea typeface="Arial"/>
                <a:cs typeface="Arial"/>
              </a:defRPr>
            </a:defPPr>
          </a:lstStyle>
          <a:p>
            <a:pPr algn="l">
              <a:defRPr sz="2175" b="1">
                <a:solidFill>
                  <a:srgbClr val="202D39"/>
                </a:solidFill>
                <a:latin typeface="Arial"/>
                <a:ea typeface="Arial"/>
                <a:cs typeface="Arial"/>
              </a:defRPr>
            </a:pPr>
            <a:r>
              <a:rPr sz="1631" b="1">
                <a:solidFill>
                  <a:srgbClr val="202D39"/>
                </a:solidFill>
                <a:latin typeface="Arial"/>
                <a:ea typeface="Arial"/>
                <a:cs typeface="Arial"/>
              </a:rPr>
              <a:t>correct cases</a:t>
            </a:r>
          </a:p>
        </p:txBody>
      </p:sp>
      <p:sp>
        <p:nvSpPr>
          <p:cNvPr id="21" name="macro F1 number">
            <a:extLst>
              <a:ext uri="{FF2B5EF4-FFF2-40B4-BE49-F238E27FC236}">
                <a16:creationId xmlns:a16="http://schemas.microsoft.com/office/drawing/2014/main" id="{AE86A7E4-DA60-4371-92A5-1820FAD91DBC}"/>
              </a:ext>
            </a:extLst>
          </p:cNvPr>
          <p:cNvSpPr>
            <a:spLocks noGrp="1"/>
          </p:cNvSpPr>
          <p:nvPr/>
        </p:nvSpPr>
        <p:spPr>
          <a:xfrm>
            <a:off x="6972300" y="3643313"/>
            <a:ext cx="1771650" cy="428625"/>
          </a:xfrm>
          <a:prstGeom prst="rect">
            <a:avLst/>
          </a:prstGeom>
          <a:noFill/>
          <a:ln w="0">
            <a:noFill/>
            <a:prstDash val="solid"/>
          </a:ln>
        </p:spPr>
        <p:txBody>
          <a:bodyPr wrap="none" lIns="0" tIns="0" rIns="0" bIns="0" anchor="t">
            <a:noAutofit/>
          </a:bodyPr>
          <a:lstStyle>
            <a:defPPr algn="l">
              <a:defRPr sz="3600" b="1">
                <a:solidFill>
                  <a:srgbClr val="990F1B"/>
                </a:solidFill>
                <a:latin typeface="Arial"/>
                <a:ea typeface="Arial"/>
                <a:cs typeface="Arial"/>
              </a:defRPr>
            </a:defPPr>
          </a:lstStyle>
          <a:p>
            <a:pPr algn="l">
              <a:defRPr sz="3600" b="1">
                <a:solidFill>
                  <a:srgbClr val="990F1B"/>
                </a:solidFill>
                <a:latin typeface="Arial"/>
                <a:ea typeface="Arial"/>
                <a:cs typeface="Arial"/>
              </a:defRPr>
            </a:pPr>
            <a:r>
              <a:rPr sz="2700" b="1">
                <a:solidFill>
                  <a:srgbClr val="990F1B"/>
                </a:solidFill>
                <a:latin typeface="Arial"/>
                <a:ea typeface="Arial"/>
                <a:cs typeface="Arial"/>
              </a:rPr>
              <a:t>0.510</a:t>
            </a:r>
          </a:p>
        </p:txBody>
      </p:sp>
      <p:sp>
        <p:nvSpPr>
          <p:cNvPr id="22" name="macro F1 meaning">
            <a:extLst>
              <a:ext uri="{FF2B5EF4-FFF2-40B4-BE49-F238E27FC236}">
                <a16:creationId xmlns:a16="http://schemas.microsoft.com/office/drawing/2014/main" id="{0F076A33-5898-4367-A66B-947E83829510}"/>
              </a:ext>
            </a:extLst>
          </p:cNvPr>
          <p:cNvSpPr>
            <a:spLocks noGrp="1"/>
          </p:cNvSpPr>
          <p:nvPr/>
        </p:nvSpPr>
        <p:spPr>
          <a:xfrm>
            <a:off x="6972300" y="4079081"/>
            <a:ext cx="1771650" cy="257175"/>
          </a:xfrm>
          <a:prstGeom prst="rect">
            <a:avLst/>
          </a:prstGeom>
          <a:noFill/>
          <a:ln w="0">
            <a:noFill/>
            <a:prstDash val="solid"/>
          </a:ln>
        </p:spPr>
        <p:txBody>
          <a:bodyPr wrap="none" lIns="0" tIns="0" rIns="0" bIns="0" anchor="t">
            <a:noAutofit/>
          </a:bodyPr>
          <a:lstStyle>
            <a:defPPr algn="l">
              <a:defRPr sz="1950" b="0">
                <a:solidFill>
                  <a:srgbClr val="566B7B"/>
                </a:solidFill>
                <a:latin typeface="Arial"/>
                <a:ea typeface="Arial"/>
                <a:cs typeface="Arial"/>
              </a:defRPr>
            </a:defPPr>
          </a:lstStyle>
          <a:p>
            <a:pPr algn="l">
              <a:defRPr sz="1950" b="0">
                <a:solidFill>
                  <a:srgbClr val="566B7B"/>
                </a:solidFill>
                <a:latin typeface="Arial"/>
                <a:ea typeface="Arial"/>
                <a:cs typeface="Arial"/>
              </a:defRPr>
            </a:pPr>
            <a:r>
              <a:rPr sz="1463">
                <a:solidFill>
                  <a:srgbClr val="566B7B"/>
                </a:solidFill>
                <a:latin typeface="Arial"/>
                <a:ea typeface="Arial"/>
                <a:cs typeface="Arial"/>
              </a:rPr>
              <a:t>macro-F1</a:t>
            </a:r>
          </a:p>
        </p:txBody>
      </p:sp>
      <p:sp>
        <p:nvSpPr>
          <p:cNvPr id="23" name="difference">
            <a:extLst>
              <a:ext uri="{FF2B5EF4-FFF2-40B4-BE49-F238E27FC236}">
                <a16:creationId xmlns:a16="http://schemas.microsoft.com/office/drawing/2014/main" id="{A190BE9A-02AD-4C45-B405-3D665C462D29}"/>
              </a:ext>
            </a:extLst>
          </p:cNvPr>
          <p:cNvSpPr>
            <a:spLocks noGrp="1"/>
          </p:cNvSpPr>
          <p:nvPr/>
        </p:nvSpPr>
        <p:spPr>
          <a:xfrm>
            <a:off x="400050" y="4457700"/>
            <a:ext cx="8343900" cy="228600"/>
          </a:xfrm>
          <a:prstGeom prst="rect">
            <a:avLst/>
          </a:prstGeom>
          <a:noFill/>
          <a:ln w="0">
            <a:noFill/>
            <a:prstDash val="solid"/>
          </a:ln>
        </p:spPr>
        <p:txBody>
          <a:bodyPr wrap="none" lIns="0" tIns="0" rIns="0" bIns="0" anchor="t">
            <a:noAutofit/>
          </a:bodyPr>
          <a:lstStyle>
            <a:defPPr algn="l">
              <a:defRPr sz="1725" b="0">
                <a:solidFill>
                  <a:srgbClr val="566B7B"/>
                </a:solidFill>
                <a:latin typeface="Arial"/>
                <a:ea typeface="Arial"/>
                <a:cs typeface="Arial"/>
              </a:defRPr>
            </a:defPPr>
          </a:lstStyle>
          <a:p>
            <a:pPr algn="l">
              <a:defRPr sz="1725" b="0">
                <a:solidFill>
                  <a:srgbClr val="566B7B"/>
                </a:solidFill>
                <a:latin typeface="Arial"/>
                <a:ea typeface="Arial"/>
                <a:cs typeface="Arial"/>
              </a:defRPr>
            </a:pPr>
            <a:r>
              <a:rPr sz="1294">
                <a:solidFill>
                  <a:srgbClr val="566B7B"/>
                </a:solidFill>
                <a:latin typeface="Arial"/>
                <a:ea typeface="Arial"/>
                <a:cs typeface="Arial"/>
              </a:rPr>
              <a:t>Exploratory results: one more correct case than the label-only prompt.</a:t>
            </a:r>
          </a:p>
        </p:txBody>
      </p:sp>
      <p:sp>
        <p:nvSpPr>
          <p:cNvPr id="24" name="output caveat">
            <a:extLst>
              <a:ext uri="{FF2B5EF4-FFF2-40B4-BE49-F238E27FC236}">
                <a16:creationId xmlns:a16="http://schemas.microsoft.com/office/drawing/2014/main" id="{33B582E7-025D-46EE-B052-6A7B68025F57}"/>
              </a:ext>
            </a:extLst>
          </p:cNvPr>
          <p:cNvSpPr>
            <a:spLocks noGrp="1"/>
          </p:cNvSpPr>
          <p:nvPr/>
        </p:nvSpPr>
        <p:spPr>
          <a:xfrm>
            <a:off x="400050" y="4750594"/>
            <a:ext cx="8343900" cy="185738"/>
          </a:xfrm>
          <a:prstGeom prst="rect">
            <a:avLst/>
          </a:prstGeom>
          <a:noFill/>
          <a:ln w="0">
            <a:noFill/>
            <a:prstDash val="solid"/>
          </a:ln>
        </p:spPr>
        <p:txBody>
          <a:bodyPr wrap="none" lIns="0" tIns="0" rIns="0" bIns="0" anchor="t">
            <a:noAutofit/>
          </a:bodyPr>
          <a:lstStyle>
            <a:defPPr algn="l">
              <a:defRPr sz="1500" b="0">
                <a:solidFill>
                  <a:srgbClr val="566B7B"/>
                </a:solidFill>
                <a:latin typeface="Arial"/>
                <a:ea typeface="Arial"/>
                <a:cs typeface="Arial"/>
              </a:defRPr>
            </a:defPPr>
          </a:lstStyle>
          <a:p>
            <a:pPr algn="l">
              <a:defRPr sz="1500" b="0">
                <a:solidFill>
                  <a:srgbClr val="566B7B"/>
                </a:solidFill>
                <a:latin typeface="Arial"/>
                <a:ea typeface="Arial"/>
                <a:cs typeface="Arial"/>
              </a:defRPr>
            </a:pPr>
            <a:r>
              <a:rPr sz="1125" dirty="0">
                <a:solidFill>
                  <a:srgbClr val="566B7B"/>
                </a:solidFill>
                <a:latin typeface="Arial"/>
                <a:ea typeface="Arial"/>
                <a:cs typeface="Arial"/>
              </a:rPr>
              <a:t>* 8/20 stepwise outputs lacked a final label, so parsing affects this comparison.</a:t>
            </a:r>
          </a:p>
        </p:txBody>
      </p:sp>
      <p:pic>
        <p:nvPicPr>
          <p:cNvPr id="8" name="Picture 7">
            <a:extLst>
              <a:ext uri="{FF2B5EF4-FFF2-40B4-BE49-F238E27FC236}">
                <a16:creationId xmlns:a16="http://schemas.microsoft.com/office/drawing/2014/main" id="{DB38C12A-EE95-55AE-ADEE-ABBBDC028F45}"/>
              </a:ext>
            </a:extLst>
          </p:cNvPr>
          <p:cNvPicPr>
            <a:picLocks noChangeAspect="1"/>
          </p:cNvPicPr>
          <p:nvPr/>
        </p:nvPicPr>
        <p:blipFill>
          <a:blip r:embed="rId4"/>
          <a:stretch/>
        </p:blipFill>
        <p:spPr>
          <a:xfrm>
            <a:off x="29028" y="44110"/>
            <a:ext cx="3190015" cy="630238"/>
          </a:xfrm>
          <a:prstGeom prst="rect">
            <a:avLst/>
          </a:prstGeom>
        </p:spPr>
      </p:pic>
      <p:sp>
        <p:nvSpPr>
          <p:cNvPr id="9" name="SMRA red header rule">
            <a:extLst>
              <a:ext uri="{FF2B5EF4-FFF2-40B4-BE49-F238E27FC236}">
                <a16:creationId xmlns:a16="http://schemas.microsoft.com/office/drawing/2014/main" id="{54C8E6D8-56F6-734E-922B-74E3C8C0E6C1}"/>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10" name="Purdue gold header accent">
            <a:extLst>
              <a:ext uri="{FF2B5EF4-FFF2-40B4-BE49-F238E27FC236}">
                <a16:creationId xmlns:a16="http://schemas.microsoft.com/office/drawing/2014/main" id="{44B1200A-2DEC-2FD2-F026-4110851ECA73}"/>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pic>
        <p:nvPicPr>
          <p:cNvPr id="11" name="Picture 10">
            <a:extLst>
              <a:ext uri="{FF2B5EF4-FFF2-40B4-BE49-F238E27FC236}">
                <a16:creationId xmlns:a16="http://schemas.microsoft.com/office/drawing/2014/main" id="{F8AD002B-E865-1498-DD3A-8D288E5E7F98}"/>
              </a:ext>
            </a:extLst>
          </p:cNvPr>
          <p:cNvPicPr>
            <a:picLocks noChangeAspect="1"/>
          </p:cNvPicPr>
          <p:nvPr/>
        </p:nvPicPr>
        <p:blipFill>
          <a:blip r:embed="rId5"/>
          <a:srcRect t="16545" r="5085" b="15652"/>
          <a:stretch>
            <a:fillRect/>
          </a:stretch>
        </p:blipFill>
        <p:spPr>
          <a:xfrm>
            <a:off x="5334000" y="44109"/>
            <a:ext cx="3810000" cy="748393"/>
          </a:xfrm>
          <a:prstGeom prst="rect">
            <a:avLst/>
          </a:prstGeom>
        </p:spPr>
      </p:pic>
    </p:spTree>
    <p:extLst>
      <p:ext uri="{BB962C8B-B14F-4D97-AF65-F5344CB8AC3E}">
        <p14:creationId xmlns:p14="http://schemas.microsoft.com/office/powerpoint/2010/main" val="2854975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B30D0055-7885-4FAA-8B0F-88245C383410}"/>
              </a:ext>
            </a:extLst>
          </p:cNvPr>
          <p:cNvSpPr>
            <a:spLocks noGrp="1"/>
          </p:cNvSpPr>
          <p:nvPr/>
        </p:nvSpPr>
        <p:spPr>
          <a:xfrm>
            <a:off x="400050" y="1107282"/>
            <a:ext cx="8343900" cy="421481"/>
          </a:xfrm>
          <a:prstGeom prst="rect">
            <a:avLst/>
          </a:prstGeom>
          <a:noFill/>
          <a:ln w="0">
            <a:noFill/>
            <a:prstDash val="solid"/>
          </a:ln>
        </p:spPr>
        <p:txBody>
          <a:bodyPr wrap="none" lIns="0" tIns="0" rIns="0" bIns="0" anchor="t">
            <a:noAutofit/>
          </a:bodyPr>
          <a:lstStyle>
            <a:defPPr algn="l">
              <a:defRPr sz="3375" b="1">
                <a:solidFill>
                  <a:srgbClr val="202D39"/>
                </a:solidFill>
                <a:latin typeface="Arial"/>
                <a:ea typeface="Arial"/>
                <a:cs typeface="Arial"/>
              </a:defRPr>
            </a:defPPr>
          </a:lstStyle>
          <a:p>
            <a:pPr algn="l">
              <a:defRPr sz="3375" b="1">
                <a:solidFill>
                  <a:srgbClr val="202D39"/>
                </a:solidFill>
                <a:latin typeface="Arial"/>
                <a:ea typeface="Arial"/>
                <a:cs typeface="Arial"/>
              </a:defRPr>
            </a:pPr>
            <a:r>
              <a:rPr sz="2531" b="1">
                <a:solidFill>
                  <a:srgbClr val="202D39"/>
                </a:solidFill>
                <a:latin typeface="Arial"/>
                <a:ea typeface="Arial"/>
                <a:cs typeface="Arial"/>
              </a:rPr>
              <a:t>Where the LLM succeeded, and what it missed</a:t>
            </a:r>
          </a:p>
        </p:txBody>
      </p:sp>
      <p:sp>
        <p:nvSpPr>
          <p:cNvPr id="17" name="subtitle">
            <a:extLst>
              <a:ext uri="{FF2B5EF4-FFF2-40B4-BE49-F238E27FC236}">
                <a16:creationId xmlns:a16="http://schemas.microsoft.com/office/drawing/2014/main" id="{80A2E3C0-FDDB-405F-8FB6-BE65D532526F}"/>
              </a:ext>
            </a:extLst>
          </p:cNvPr>
          <p:cNvSpPr>
            <a:spLocks noGrp="1"/>
          </p:cNvSpPr>
          <p:nvPr/>
        </p:nvSpPr>
        <p:spPr>
          <a:xfrm>
            <a:off x="400050" y="1600201"/>
            <a:ext cx="8343900" cy="250031"/>
          </a:xfrm>
          <a:prstGeom prst="rect">
            <a:avLst/>
          </a:prstGeom>
          <a:noFill/>
          <a:ln w="0">
            <a:noFill/>
            <a:prstDash val="solid"/>
          </a:ln>
        </p:spPr>
        <p:txBody>
          <a:bodyPr wrap="none" lIns="0" tIns="0" rIns="0" bIns="0" anchor="t">
            <a:noAutofit/>
          </a:bodyPr>
          <a:lstStyle>
            <a:defPPr algn="l">
              <a:defRPr sz="2025" b="0">
                <a:solidFill>
                  <a:srgbClr val="566B7B"/>
                </a:solidFill>
                <a:latin typeface="Arial"/>
                <a:ea typeface="Arial"/>
                <a:cs typeface="Arial"/>
              </a:defRPr>
            </a:defPPr>
          </a:lstStyle>
          <a:p>
            <a:pPr algn="l">
              <a:defRPr sz="2025" b="0">
                <a:solidFill>
                  <a:srgbClr val="566B7B"/>
                </a:solidFill>
                <a:latin typeface="Arial"/>
                <a:ea typeface="Arial"/>
                <a:cs typeface="Arial"/>
              </a:defRPr>
            </a:pPr>
            <a:r>
              <a:rPr sz="1519">
                <a:solidFill>
                  <a:srgbClr val="566B7B"/>
                </a:solidFill>
                <a:latin typeface="Arial"/>
                <a:ea typeface="Arial"/>
                <a:cs typeface="Arial"/>
              </a:rPr>
              <a:t>Confusion matrix for calibrated prompting, 20 ACDC cases</a:t>
            </a:r>
          </a:p>
        </p:txBody>
      </p:sp>
      <p:sp>
        <p:nvSpPr>
          <p:cNvPr id="18" name="predicted axis">
            <a:extLst>
              <a:ext uri="{FF2B5EF4-FFF2-40B4-BE49-F238E27FC236}">
                <a16:creationId xmlns:a16="http://schemas.microsoft.com/office/drawing/2014/main" id="{66CB9BAC-94F2-4A64-847E-48048F31A63A}"/>
              </a:ext>
            </a:extLst>
          </p:cNvPr>
          <p:cNvSpPr>
            <a:spLocks noGrp="1"/>
          </p:cNvSpPr>
          <p:nvPr/>
        </p:nvSpPr>
        <p:spPr>
          <a:xfrm>
            <a:off x="1714500" y="1914525"/>
            <a:ext cx="2928938" cy="207169"/>
          </a:xfrm>
          <a:prstGeom prst="rect">
            <a:avLst/>
          </a:prstGeom>
          <a:noFill/>
          <a:ln w="0">
            <a:noFill/>
            <a:prstDash val="solid"/>
          </a:ln>
        </p:spPr>
        <p:txBody>
          <a:bodyPr wrap="none" lIns="0" tIns="0" rIns="0" bIns="0" anchor="t">
            <a:noAutofit/>
          </a:bodyPr>
          <a:lstStyle>
            <a:defPPr algn="ctr">
              <a:defRPr sz="1650" b="0">
                <a:solidFill>
                  <a:srgbClr val="566B7B"/>
                </a:solidFill>
                <a:latin typeface="Arial"/>
                <a:ea typeface="Arial"/>
                <a:cs typeface="Arial"/>
              </a:defRPr>
            </a:defPPr>
          </a:lstStyle>
          <a:p>
            <a:pPr algn="ctr">
              <a:defRPr sz="1650" b="0">
                <a:solidFill>
                  <a:srgbClr val="566B7B"/>
                </a:solidFill>
                <a:latin typeface="Arial"/>
                <a:ea typeface="Arial"/>
                <a:cs typeface="Arial"/>
              </a:defRPr>
            </a:pPr>
            <a:r>
              <a:rPr sz="1238">
                <a:solidFill>
                  <a:srgbClr val="566B7B"/>
                </a:solidFill>
                <a:latin typeface="Arial"/>
                <a:ea typeface="Arial"/>
                <a:cs typeface="Arial"/>
              </a:rPr>
              <a:t>Predicted class</a:t>
            </a:r>
          </a:p>
        </p:txBody>
      </p:sp>
      <p:sp>
        <p:nvSpPr>
          <p:cNvPr id="19" name="true axis">
            <a:extLst>
              <a:ext uri="{FF2B5EF4-FFF2-40B4-BE49-F238E27FC236}">
                <a16:creationId xmlns:a16="http://schemas.microsoft.com/office/drawing/2014/main" id="{7BBADD2C-C1BF-429F-A24B-8BCCB7F0FAF2}"/>
              </a:ext>
            </a:extLst>
          </p:cNvPr>
          <p:cNvSpPr>
            <a:spLocks noGrp="1"/>
          </p:cNvSpPr>
          <p:nvPr/>
        </p:nvSpPr>
        <p:spPr>
          <a:xfrm>
            <a:off x="400050" y="2814638"/>
            <a:ext cx="464344" cy="421481"/>
          </a:xfrm>
          <a:prstGeom prst="rect">
            <a:avLst/>
          </a:prstGeom>
          <a:noFill/>
          <a:ln w="0">
            <a:noFill/>
            <a:prstDash val="solid"/>
          </a:ln>
        </p:spPr>
        <p:txBody>
          <a:bodyPr wrap="none" lIns="0" tIns="0" rIns="0" bIns="0" anchor="t">
            <a:noAutofit/>
          </a:bodyPr>
          <a:lstStyle>
            <a:defPPr algn="l">
              <a:defRPr sz="1650" b="0">
                <a:solidFill>
                  <a:srgbClr val="566B7B"/>
                </a:solidFill>
                <a:latin typeface="Arial"/>
                <a:ea typeface="Arial"/>
                <a:cs typeface="Arial"/>
              </a:defRPr>
            </a:defPPr>
          </a:lstStyle>
          <a:p>
            <a:pPr algn="l">
              <a:defRPr sz="1650" b="0">
                <a:solidFill>
                  <a:srgbClr val="566B7B"/>
                </a:solidFill>
                <a:latin typeface="Arial"/>
                <a:ea typeface="Arial"/>
                <a:cs typeface="Arial"/>
              </a:defRPr>
            </a:pPr>
            <a:r>
              <a:rPr sz="1238">
                <a:solidFill>
                  <a:srgbClr val="566B7B"/>
                </a:solidFill>
                <a:latin typeface="Arial"/>
                <a:ea typeface="Arial"/>
                <a:cs typeface="Arial"/>
              </a:rPr>
              <a:t>True</a:t>
            </a:r>
          </a:p>
          <a:p>
            <a:pPr algn="l">
              <a:defRPr sz="1650" b="0">
                <a:solidFill>
                  <a:srgbClr val="566B7B"/>
                </a:solidFill>
                <a:latin typeface="Arial"/>
                <a:ea typeface="Arial"/>
                <a:cs typeface="Arial"/>
              </a:defRPr>
            </a:pPr>
            <a:r>
              <a:rPr sz="1238">
                <a:solidFill>
                  <a:srgbClr val="566B7B"/>
                </a:solidFill>
                <a:latin typeface="Arial"/>
                <a:ea typeface="Arial"/>
                <a:cs typeface="Arial"/>
              </a:rPr>
              <a:t>class</a:t>
            </a:r>
          </a:p>
        </p:txBody>
      </p:sp>
      <p:graphicFrame>
        <p:nvGraphicFramePr>
          <p:cNvPr id="20" name="Table 19">
            <a:extLst>
              <a:ext uri="{FF2B5EF4-FFF2-40B4-BE49-F238E27FC236}">
                <a16:creationId xmlns:a16="http://schemas.microsoft.com/office/drawing/2014/main" id="{63832E8A-8C04-49E7-ACBF-2E6A16ADB37F}"/>
              </a:ext>
            </a:extLst>
          </p:cNvPr>
          <p:cNvGraphicFramePr/>
          <p:nvPr/>
        </p:nvGraphicFramePr>
        <p:xfrm>
          <a:off x="871538" y="2157413"/>
          <a:ext cx="3714753" cy="2460785"/>
        </p:xfrm>
        <a:graphic>
          <a:graphicData uri="http://schemas.openxmlformats.org/drawingml/2006/table">
            <a:tbl>
              <a:tblPr/>
              <a:tblGrid>
                <a:gridCol w="785813">
                  <a:extLst>
                    <a:ext uri="{9D8B030D-6E8A-4147-A177-3AD203B41FA5}">
                      <a16:colId xmlns:a16="http://schemas.microsoft.com/office/drawing/2014/main" val="20000"/>
                    </a:ext>
                  </a:extLst>
                </a:gridCol>
                <a:gridCol w="585788">
                  <a:extLst>
                    <a:ext uri="{9D8B030D-6E8A-4147-A177-3AD203B41FA5}">
                      <a16:colId xmlns:a16="http://schemas.microsoft.com/office/drawing/2014/main" val="20001"/>
                    </a:ext>
                  </a:extLst>
                </a:gridCol>
                <a:gridCol w="585788">
                  <a:extLst>
                    <a:ext uri="{9D8B030D-6E8A-4147-A177-3AD203B41FA5}">
                      <a16:colId xmlns:a16="http://schemas.microsoft.com/office/drawing/2014/main" val="20002"/>
                    </a:ext>
                  </a:extLst>
                </a:gridCol>
                <a:gridCol w="585788">
                  <a:extLst>
                    <a:ext uri="{9D8B030D-6E8A-4147-A177-3AD203B41FA5}">
                      <a16:colId xmlns:a16="http://schemas.microsoft.com/office/drawing/2014/main" val="20003"/>
                    </a:ext>
                  </a:extLst>
                </a:gridCol>
                <a:gridCol w="585788">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tblGrid>
              <a:tr h="274320">
                <a:tc>
                  <a:txBody>
                    <a:bodyPr/>
                    <a:lstStyle/>
                    <a:p>
                      <a:endParaRPr sz="1400"/>
                    </a:p>
                  </a:txBody>
                  <a:tcPr marL="68580" marR="68580" marT="34290" marB="3429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a:lstStyle/>
                    <a:p>
                      <a:pPr algn="ctr"/>
                      <a:r>
                        <a:rPr sz="1300" b="0">
                          <a:solidFill>
                            <a:srgbClr val="202D39"/>
                          </a:solidFill>
                          <a:latin typeface="Arial"/>
                          <a:ea typeface="Arial"/>
                          <a:cs typeface="Arial"/>
                        </a:rPr>
                        <a:t>NOR</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a:lstStyle/>
                    <a:p>
                      <a:pPr algn="ctr"/>
                      <a:r>
                        <a:rPr sz="1300" b="0">
                          <a:solidFill>
                            <a:srgbClr val="202D39"/>
                          </a:solidFill>
                          <a:latin typeface="Arial"/>
                          <a:ea typeface="Arial"/>
                          <a:cs typeface="Arial"/>
                        </a:rPr>
                        <a:t>DCM</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a:lstStyle/>
                    <a:p>
                      <a:pPr algn="ctr"/>
                      <a:r>
                        <a:rPr sz="1300" b="0">
                          <a:solidFill>
                            <a:srgbClr val="202D39"/>
                          </a:solidFill>
                          <a:latin typeface="Arial"/>
                          <a:ea typeface="Arial"/>
                          <a:cs typeface="Arial"/>
                        </a:rPr>
                        <a:t>HCM</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a:lstStyle/>
                    <a:p>
                      <a:pPr algn="ctr"/>
                      <a:r>
                        <a:rPr sz="1300" b="0">
                          <a:solidFill>
                            <a:srgbClr val="202D39"/>
                          </a:solidFill>
                          <a:latin typeface="Arial"/>
                          <a:ea typeface="Arial"/>
                          <a:cs typeface="Arial"/>
                        </a:rPr>
                        <a:t>MINF</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a:lstStyle/>
                    <a:p>
                      <a:pPr algn="ctr"/>
                      <a:r>
                        <a:rPr sz="1300" b="0">
                          <a:solidFill>
                            <a:srgbClr val="202D39"/>
                          </a:solidFill>
                          <a:latin typeface="Arial"/>
                          <a:ea typeface="Arial"/>
                          <a:cs typeface="Arial"/>
                        </a:rPr>
                        <a:t>RV</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extLst>
                  <a:ext uri="{0D108BD9-81ED-4DB2-BD59-A6C34878D82A}">
                    <a16:rowId xmlns:a16="http://schemas.microsoft.com/office/drawing/2014/main" val="10000"/>
                  </a:ext>
                </a:extLst>
              </a:tr>
              <a:tr h="435769">
                <a:tc>
                  <a:txBody>
                    <a:bodyPr/>
                    <a:lstStyle/>
                    <a:p>
                      <a:pPr algn="r"/>
                      <a:r>
                        <a:rPr sz="1300" b="0">
                          <a:solidFill>
                            <a:srgbClr val="202D39"/>
                          </a:solidFill>
                          <a:latin typeface="Arial"/>
                          <a:ea typeface="Arial"/>
                          <a:cs typeface="Arial"/>
                        </a:rPr>
                        <a:t>NOR</a:t>
                      </a:r>
                    </a:p>
                  </a:txBody>
                  <a:tcPr marL="68580" marR="68580" marT="34290" marB="34290" anchor="ct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algn="ctr"/>
                      <a:r>
                        <a:rPr sz="1600" b="1">
                          <a:solidFill>
                            <a:srgbClr val="FFFFFF"/>
                          </a:solidFill>
                          <a:latin typeface="Arial"/>
                          <a:ea typeface="Arial"/>
                          <a:cs typeface="Arial"/>
                        </a:rPr>
                        <a:t>4</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08306B"/>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extLst>
                  <a:ext uri="{0D108BD9-81ED-4DB2-BD59-A6C34878D82A}">
                    <a16:rowId xmlns:a16="http://schemas.microsoft.com/office/drawing/2014/main" val="10001"/>
                  </a:ext>
                </a:extLst>
              </a:tr>
              <a:tr h="435769">
                <a:tc>
                  <a:txBody>
                    <a:bodyPr/>
                    <a:lstStyle/>
                    <a:p>
                      <a:pPr algn="r"/>
                      <a:r>
                        <a:rPr sz="1300" b="0">
                          <a:solidFill>
                            <a:srgbClr val="202D39"/>
                          </a:solidFill>
                          <a:latin typeface="Arial"/>
                          <a:ea typeface="Arial"/>
                          <a:cs typeface="Arial"/>
                        </a:rPr>
                        <a:t>DCM</a:t>
                      </a:r>
                    </a:p>
                  </a:txBody>
                  <a:tcPr marL="68580" marR="68580" marT="34290" marB="34290" anchor="ct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FFFFFF"/>
                          </a:solidFill>
                          <a:latin typeface="Arial"/>
                          <a:ea typeface="Arial"/>
                          <a:cs typeface="Arial"/>
                        </a:rPr>
                        <a:t>4</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08306B"/>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extLst>
                  <a:ext uri="{0D108BD9-81ED-4DB2-BD59-A6C34878D82A}">
                    <a16:rowId xmlns:a16="http://schemas.microsoft.com/office/drawing/2014/main" val="10002"/>
                  </a:ext>
                </a:extLst>
              </a:tr>
              <a:tr h="435769">
                <a:tc>
                  <a:txBody>
                    <a:bodyPr/>
                    <a:lstStyle/>
                    <a:p>
                      <a:pPr algn="r"/>
                      <a:r>
                        <a:rPr sz="1300" b="1">
                          <a:solidFill>
                            <a:srgbClr val="990F1B"/>
                          </a:solidFill>
                          <a:latin typeface="Arial"/>
                          <a:ea typeface="Arial"/>
                          <a:cs typeface="Arial"/>
                        </a:rPr>
                        <a:t>HCM</a:t>
                      </a:r>
                    </a:p>
                  </a:txBody>
                  <a:tcPr marL="68580" marR="68580" marT="34290" marB="34290" anchor="ct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algn="ctr"/>
                      <a:r>
                        <a:rPr sz="1600" b="1">
                          <a:solidFill>
                            <a:srgbClr val="202D39"/>
                          </a:solidFill>
                          <a:latin typeface="Arial"/>
                          <a:ea typeface="Arial"/>
                          <a:cs typeface="Arial"/>
                        </a:rPr>
                        <a:t>1</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C6DBE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2</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6BAED6"/>
                    </a:solidFill>
                  </a:tcPr>
                </a:tc>
                <a:tc>
                  <a:txBody>
                    <a:bodyPr/>
                    <a:lstStyle/>
                    <a:p>
                      <a:pPr algn="ctr"/>
                      <a:r>
                        <a:rPr sz="1600" b="1">
                          <a:solidFill>
                            <a:srgbClr val="202D39"/>
                          </a:solidFill>
                          <a:latin typeface="Arial"/>
                          <a:ea typeface="Arial"/>
                          <a:cs typeface="Arial"/>
                        </a:rPr>
                        <a:t>1</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C6DBEF"/>
                    </a:solidFill>
                  </a:tcPr>
                </a:tc>
                <a:extLst>
                  <a:ext uri="{0D108BD9-81ED-4DB2-BD59-A6C34878D82A}">
                    <a16:rowId xmlns:a16="http://schemas.microsoft.com/office/drawing/2014/main" val="10003"/>
                  </a:ext>
                </a:extLst>
              </a:tr>
              <a:tr h="435769">
                <a:tc>
                  <a:txBody>
                    <a:bodyPr/>
                    <a:lstStyle/>
                    <a:p>
                      <a:pPr algn="r"/>
                      <a:r>
                        <a:rPr sz="1300" b="0">
                          <a:solidFill>
                            <a:srgbClr val="202D39"/>
                          </a:solidFill>
                          <a:latin typeface="Arial"/>
                          <a:ea typeface="Arial"/>
                          <a:cs typeface="Arial"/>
                        </a:rPr>
                        <a:t>MINF</a:t>
                      </a:r>
                    </a:p>
                  </a:txBody>
                  <a:tcPr marL="68580" marR="68580" marT="34290" marB="34290" anchor="ct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1</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C6DBE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FFFFFF"/>
                          </a:solidFill>
                          <a:latin typeface="Arial"/>
                          <a:ea typeface="Arial"/>
                          <a:cs typeface="Arial"/>
                        </a:rPr>
                        <a:t>3</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2171B5"/>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extLst>
                  <a:ext uri="{0D108BD9-81ED-4DB2-BD59-A6C34878D82A}">
                    <a16:rowId xmlns:a16="http://schemas.microsoft.com/office/drawing/2014/main" val="10004"/>
                  </a:ext>
                </a:extLst>
              </a:tr>
              <a:tr h="435769">
                <a:tc>
                  <a:txBody>
                    <a:bodyPr/>
                    <a:lstStyle/>
                    <a:p>
                      <a:pPr algn="r"/>
                      <a:r>
                        <a:rPr sz="1300" b="0">
                          <a:solidFill>
                            <a:srgbClr val="202D39"/>
                          </a:solidFill>
                          <a:latin typeface="Arial"/>
                          <a:ea typeface="Arial"/>
                          <a:cs typeface="Arial"/>
                        </a:rPr>
                        <a:t>RV</a:t>
                      </a:r>
                    </a:p>
                  </a:txBody>
                  <a:tcPr marL="68580" marR="68580" marT="34290" marB="34290" anchor="ct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algn="ctr"/>
                      <a:r>
                        <a:rPr sz="1600" b="1">
                          <a:solidFill>
                            <a:srgbClr val="202D39"/>
                          </a:solidFill>
                          <a:latin typeface="Arial"/>
                          <a:ea typeface="Arial"/>
                          <a:cs typeface="Arial"/>
                        </a:rPr>
                        <a:t>2</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6BAED6"/>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0</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F7FBFF"/>
                    </a:solidFill>
                  </a:tcPr>
                </a:tc>
                <a:tc>
                  <a:txBody>
                    <a:bodyPr/>
                    <a:lstStyle/>
                    <a:p>
                      <a:pPr algn="ctr"/>
                      <a:r>
                        <a:rPr sz="1600" b="1">
                          <a:solidFill>
                            <a:srgbClr val="202D39"/>
                          </a:solidFill>
                          <a:latin typeface="Arial"/>
                          <a:ea typeface="Arial"/>
                          <a:cs typeface="Arial"/>
                        </a:rPr>
                        <a:t>1</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C6DBEF"/>
                    </a:solidFill>
                  </a:tcPr>
                </a:tc>
                <a:tc>
                  <a:txBody>
                    <a:bodyPr/>
                    <a:lstStyle/>
                    <a:p>
                      <a:pPr algn="ctr"/>
                      <a:r>
                        <a:rPr sz="1600" b="1">
                          <a:solidFill>
                            <a:srgbClr val="202D39"/>
                          </a:solidFill>
                          <a:latin typeface="Arial"/>
                          <a:ea typeface="Arial"/>
                          <a:cs typeface="Arial"/>
                        </a:rPr>
                        <a:t>1</a:t>
                      </a:r>
                    </a:p>
                  </a:txBody>
                  <a:tcPr marL="68580" marR="68580" marT="34290" marB="34290" anchor="ctr">
                    <a:lnL w="9525" cap="flat" cmpd="sng" algn="ctr">
                      <a:solidFill>
                        <a:srgbClr val="FFFFFF"/>
                      </a:solidFill>
                      <a:prstDash val="solid"/>
                      <a:round/>
                      <a:headEnd type="none" w="med" len="med"/>
                      <a:tailEnd type="none" w="med" len="med"/>
                    </a:lnL>
                    <a:lnR w="9525">
                      <a:solidFill>
                        <a:srgbClr val="FFFFFF"/>
                      </a:solidFill>
                      <a:prstDash val="solid"/>
                    </a:lnR>
                    <a:lnT w="9525" cap="flat" cmpd="sng" algn="ctr">
                      <a:solidFill>
                        <a:srgbClr val="FFFFFF"/>
                      </a:solidFill>
                      <a:prstDash val="solid"/>
                      <a:round/>
                      <a:headEnd type="none" w="med" len="med"/>
                      <a:tailEnd type="none" w="med" len="med"/>
                    </a:lnT>
                    <a:lnB w="9525">
                      <a:solidFill>
                        <a:srgbClr val="FFFFFF"/>
                      </a:solidFill>
                      <a:prstDash val="solid"/>
                    </a:lnB>
                    <a:solidFill>
                      <a:srgbClr val="C6DBEF"/>
                    </a:solidFill>
                  </a:tcPr>
                </a:tc>
                <a:extLst>
                  <a:ext uri="{0D108BD9-81ED-4DB2-BD59-A6C34878D82A}">
                    <a16:rowId xmlns:a16="http://schemas.microsoft.com/office/drawing/2014/main" val="10005"/>
                  </a:ext>
                </a:extLst>
              </a:tr>
            </a:tbl>
          </a:graphicData>
        </a:graphic>
      </p:graphicFrame>
      <p:sp>
        <p:nvSpPr>
          <p:cNvPr id="21" name="NOR DCM count">
            <a:extLst>
              <a:ext uri="{FF2B5EF4-FFF2-40B4-BE49-F238E27FC236}">
                <a16:creationId xmlns:a16="http://schemas.microsoft.com/office/drawing/2014/main" id="{8B90580D-7D77-44CC-B257-D8AE6E1E9271}"/>
              </a:ext>
            </a:extLst>
          </p:cNvPr>
          <p:cNvSpPr>
            <a:spLocks noGrp="1"/>
          </p:cNvSpPr>
          <p:nvPr/>
        </p:nvSpPr>
        <p:spPr>
          <a:xfrm>
            <a:off x="5572125" y="2085975"/>
            <a:ext cx="3171825" cy="714375"/>
          </a:xfrm>
          <a:prstGeom prst="rect">
            <a:avLst/>
          </a:prstGeom>
          <a:noFill/>
          <a:ln w="0">
            <a:noFill/>
            <a:prstDash val="solid"/>
          </a:ln>
        </p:spPr>
        <p:txBody>
          <a:bodyPr wrap="none" lIns="0" tIns="0" rIns="0" bIns="0" anchor="t">
            <a:noAutofit/>
          </a:bodyPr>
          <a:lstStyle>
            <a:defPPr algn="l">
              <a:defRPr sz="6300" b="1">
                <a:solidFill>
                  <a:srgbClr val="1264B0"/>
                </a:solidFill>
                <a:latin typeface="Arial"/>
                <a:ea typeface="Arial"/>
                <a:cs typeface="Arial"/>
              </a:defRPr>
            </a:defPPr>
          </a:lstStyle>
          <a:p>
            <a:pPr algn="l">
              <a:defRPr sz="6300" b="1">
                <a:solidFill>
                  <a:srgbClr val="1264B0"/>
                </a:solidFill>
                <a:latin typeface="Arial"/>
                <a:ea typeface="Arial"/>
                <a:cs typeface="Arial"/>
              </a:defRPr>
            </a:pPr>
            <a:r>
              <a:rPr sz="4725" b="1">
                <a:solidFill>
                  <a:srgbClr val="1264B0"/>
                </a:solidFill>
                <a:latin typeface="Arial"/>
                <a:ea typeface="Arial"/>
                <a:cs typeface="Arial"/>
              </a:rPr>
              <a:t>8 / 8</a:t>
            </a:r>
          </a:p>
        </p:txBody>
      </p:sp>
      <p:sp>
        <p:nvSpPr>
          <p:cNvPr id="22" name="NOR DCM meaning">
            <a:extLst>
              <a:ext uri="{FF2B5EF4-FFF2-40B4-BE49-F238E27FC236}">
                <a16:creationId xmlns:a16="http://schemas.microsoft.com/office/drawing/2014/main" id="{AA0C72CF-ECCD-4689-BB89-9955DF4E3DB6}"/>
              </a:ext>
            </a:extLst>
          </p:cNvPr>
          <p:cNvSpPr>
            <a:spLocks noGrp="1"/>
          </p:cNvSpPr>
          <p:nvPr/>
        </p:nvSpPr>
        <p:spPr>
          <a:xfrm>
            <a:off x="5600700" y="2821781"/>
            <a:ext cx="3143250" cy="571500"/>
          </a:xfrm>
          <a:prstGeom prst="rect">
            <a:avLst/>
          </a:prstGeom>
          <a:noFill/>
          <a:ln w="0">
            <a:noFill/>
            <a:prstDash val="solid"/>
          </a:ln>
        </p:spPr>
        <p:txBody>
          <a:bodyPr wrap="none" lIns="0" tIns="0" rIns="0" bIns="0" anchor="t">
            <a:noAutofit/>
          </a:bodyPr>
          <a:lstStyle>
            <a:defPPr algn="l">
              <a:defRPr sz="2250" b="1">
                <a:solidFill>
                  <a:srgbClr val="202D39"/>
                </a:solidFill>
                <a:latin typeface="Arial"/>
                <a:ea typeface="Arial"/>
                <a:cs typeface="Arial"/>
              </a:defRPr>
            </a:defPPr>
          </a:lstStyle>
          <a:p>
            <a:pPr algn="l">
              <a:defRPr sz="2250" b="1">
                <a:solidFill>
                  <a:srgbClr val="202D39"/>
                </a:solidFill>
                <a:latin typeface="Arial"/>
                <a:ea typeface="Arial"/>
                <a:cs typeface="Arial"/>
              </a:defRPr>
            </a:pPr>
            <a:r>
              <a:rPr sz="1688" b="1">
                <a:solidFill>
                  <a:srgbClr val="202D39"/>
                </a:solidFill>
                <a:latin typeface="Arial"/>
                <a:ea typeface="Arial"/>
                <a:cs typeface="Arial"/>
              </a:rPr>
              <a:t>Normal and DCM cases</a:t>
            </a:r>
          </a:p>
          <a:p>
            <a:pPr algn="l">
              <a:defRPr sz="2250" b="1">
                <a:solidFill>
                  <a:srgbClr val="202D39"/>
                </a:solidFill>
                <a:latin typeface="Arial"/>
                <a:ea typeface="Arial"/>
                <a:cs typeface="Arial"/>
              </a:defRPr>
            </a:pPr>
            <a:r>
              <a:rPr sz="1688" b="1">
                <a:solidFill>
                  <a:srgbClr val="202D39"/>
                </a:solidFill>
                <a:latin typeface="Arial"/>
                <a:ea typeface="Arial"/>
                <a:cs typeface="Arial"/>
              </a:rPr>
              <a:t>correctly labeled</a:t>
            </a:r>
          </a:p>
        </p:txBody>
      </p:sp>
      <p:sp>
        <p:nvSpPr>
          <p:cNvPr id="23" name="HCM count">
            <a:extLst>
              <a:ext uri="{FF2B5EF4-FFF2-40B4-BE49-F238E27FC236}">
                <a16:creationId xmlns:a16="http://schemas.microsoft.com/office/drawing/2014/main" id="{E5207E20-4273-40FD-AAB9-36051E2A5E6E}"/>
              </a:ext>
            </a:extLst>
          </p:cNvPr>
          <p:cNvSpPr>
            <a:spLocks noGrp="1"/>
          </p:cNvSpPr>
          <p:nvPr/>
        </p:nvSpPr>
        <p:spPr>
          <a:xfrm>
            <a:off x="5572125" y="3514725"/>
            <a:ext cx="3171825" cy="671513"/>
          </a:xfrm>
          <a:prstGeom prst="rect">
            <a:avLst/>
          </a:prstGeom>
          <a:noFill/>
          <a:ln w="0">
            <a:noFill/>
            <a:prstDash val="solid"/>
          </a:ln>
        </p:spPr>
        <p:txBody>
          <a:bodyPr wrap="none" lIns="0" tIns="0" rIns="0" bIns="0" anchor="t">
            <a:noAutofit/>
          </a:bodyPr>
          <a:lstStyle>
            <a:defPPr algn="l">
              <a:defRPr sz="6000" b="1">
                <a:solidFill>
                  <a:srgbClr val="990F1B"/>
                </a:solidFill>
                <a:latin typeface="Arial"/>
                <a:ea typeface="Arial"/>
                <a:cs typeface="Arial"/>
              </a:defRPr>
            </a:defPPr>
          </a:lstStyle>
          <a:p>
            <a:pPr algn="l">
              <a:defRPr sz="6000" b="1">
                <a:solidFill>
                  <a:srgbClr val="990F1B"/>
                </a:solidFill>
                <a:latin typeface="Arial"/>
                <a:ea typeface="Arial"/>
                <a:cs typeface="Arial"/>
              </a:defRPr>
            </a:pPr>
            <a:r>
              <a:rPr sz="4500" b="1">
                <a:solidFill>
                  <a:srgbClr val="990F1B"/>
                </a:solidFill>
                <a:latin typeface="Arial"/>
                <a:ea typeface="Arial"/>
                <a:cs typeface="Arial"/>
              </a:rPr>
              <a:t>0 / 4</a:t>
            </a:r>
          </a:p>
        </p:txBody>
      </p:sp>
      <p:sp>
        <p:nvSpPr>
          <p:cNvPr id="24" name="HCM meaning">
            <a:extLst>
              <a:ext uri="{FF2B5EF4-FFF2-40B4-BE49-F238E27FC236}">
                <a16:creationId xmlns:a16="http://schemas.microsoft.com/office/drawing/2014/main" id="{959FD944-57F9-4E31-8E29-5139C76C97A0}"/>
              </a:ext>
            </a:extLst>
          </p:cNvPr>
          <p:cNvSpPr>
            <a:spLocks noGrp="1"/>
          </p:cNvSpPr>
          <p:nvPr/>
        </p:nvSpPr>
        <p:spPr>
          <a:xfrm>
            <a:off x="5600700" y="4221957"/>
            <a:ext cx="3143250" cy="278606"/>
          </a:xfrm>
          <a:prstGeom prst="rect">
            <a:avLst/>
          </a:prstGeom>
          <a:noFill/>
          <a:ln w="0">
            <a:noFill/>
            <a:prstDash val="solid"/>
          </a:ln>
        </p:spPr>
        <p:txBody>
          <a:bodyPr wrap="none" lIns="0" tIns="0" rIns="0" bIns="0" anchor="t">
            <a:noAutofit/>
          </a:bodyPr>
          <a:lstStyle>
            <a:defPPr algn="l">
              <a:defRPr sz="2100" b="1">
                <a:solidFill>
                  <a:srgbClr val="202D39"/>
                </a:solidFill>
                <a:latin typeface="Arial"/>
                <a:ea typeface="Arial"/>
                <a:cs typeface="Arial"/>
              </a:defRPr>
            </a:defPPr>
          </a:lstStyle>
          <a:p>
            <a:pPr algn="l">
              <a:defRPr sz="2100" b="1">
                <a:solidFill>
                  <a:srgbClr val="202D39"/>
                </a:solidFill>
                <a:latin typeface="Arial"/>
                <a:ea typeface="Arial"/>
                <a:cs typeface="Arial"/>
              </a:defRPr>
            </a:pPr>
            <a:r>
              <a:rPr sz="1575" b="1">
                <a:solidFill>
                  <a:srgbClr val="202D39"/>
                </a:solidFill>
                <a:latin typeface="Arial"/>
                <a:ea typeface="Arial"/>
                <a:cs typeface="Arial"/>
              </a:rPr>
              <a:t>HCM cases correctly labeled</a:t>
            </a:r>
          </a:p>
        </p:txBody>
      </p:sp>
      <p:sp>
        <p:nvSpPr>
          <p:cNvPr id="25" name="missing information">
            <a:extLst>
              <a:ext uri="{FF2B5EF4-FFF2-40B4-BE49-F238E27FC236}">
                <a16:creationId xmlns:a16="http://schemas.microsoft.com/office/drawing/2014/main" id="{B1FB37A0-A24B-43D6-88F5-EADFCB59687F}"/>
              </a:ext>
            </a:extLst>
          </p:cNvPr>
          <p:cNvSpPr>
            <a:spLocks noGrp="1"/>
          </p:cNvSpPr>
          <p:nvPr/>
        </p:nvSpPr>
        <p:spPr>
          <a:xfrm>
            <a:off x="400050" y="4743450"/>
            <a:ext cx="8343900" cy="207169"/>
          </a:xfrm>
          <a:prstGeom prst="rect">
            <a:avLst/>
          </a:prstGeom>
          <a:noFill/>
          <a:ln w="0">
            <a:noFill/>
            <a:prstDash val="solid"/>
          </a:ln>
        </p:spPr>
        <p:txBody>
          <a:bodyPr wrap="none" lIns="0" tIns="0" rIns="0" bIns="0" anchor="t">
            <a:noAutofit/>
          </a:bodyPr>
          <a:lstStyle>
            <a:defPPr algn="l">
              <a:defRPr sz="1725" b="0">
                <a:solidFill>
                  <a:srgbClr val="566B7B"/>
                </a:solidFill>
                <a:latin typeface="Arial"/>
                <a:ea typeface="Arial"/>
                <a:cs typeface="Arial"/>
              </a:defRPr>
            </a:defPPr>
          </a:lstStyle>
          <a:p>
            <a:pPr algn="l">
              <a:defRPr sz="1725" b="0">
                <a:solidFill>
                  <a:srgbClr val="566B7B"/>
                </a:solidFill>
                <a:latin typeface="Arial"/>
                <a:ea typeface="Arial"/>
                <a:cs typeface="Arial"/>
              </a:defRPr>
            </a:pPr>
            <a:r>
              <a:rPr sz="1294">
                <a:solidFill>
                  <a:srgbClr val="566B7B"/>
                </a:solidFill>
                <a:latin typeface="Arial"/>
                <a:ea typeface="Arial"/>
                <a:cs typeface="Arial"/>
              </a:rPr>
              <a:t>Inputs omit wall thickness and right-ventricular measurements.</a:t>
            </a:r>
          </a:p>
        </p:txBody>
      </p:sp>
      <p:pic>
        <p:nvPicPr>
          <p:cNvPr id="8" name="Picture 7">
            <a:extLst>
              <a:ext uri="{FF2B5EF4-FFF2-40B4-BE49-F238E27FC236}">
                <a16:creationId xmlns:a16="http://schemas.microsoft.com/office/drawing/2014/main" id="{3F929417-3B66-76AE-083B-3BE15A9FFC8C}"/>
              </a:ext>
            </a:extLst>
          </p:cNvPr>
          <p:cNvPicPr>
            <a:picLocks noChangeAspect="1"/>
          </p:cNvPicPr>
          <p:nvPr/>
        </p:nvPicPr>
        <p:blipFill>
          <a:blip r:embed="rId3"/>
          <a:stretch/>
        </p:blipFill>
        <p:spPr>
          <a:xfrm>
            <a:off x="29028" y="44110"/>
            <a:ext cx="3190015" cy="630238"/>
          </a:xfrm>
          <a:prstGeom prst="rect">
            <a:avLst/>
          </a:prstGeom>
        </p:spPr>
      </p:pic>
      <p:sp>
        <p:nvSpPr>
          <p:cNvPr id="9" name="SMRA red header rule">
            <a:extLst>
              <a:ext uri="{FF2B5EF4-FFF2-40B4-BE49-F238E27FC236}">
                <a16:creationId xmlns:a16="http://schemas.microsoft.com/office/drawing/2014/main" id="{7A1ABA50-9C77-32DB-6E50-B3C5C5642CAB}"/>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10" name="Purdue gold header accent">
            <a:extLst>
              <a:ext uri="{FF2B5EF4-FFF2-40B4-BE49-F238E27FC236}">
                <a16:creationId xmlns:a16="http://schemas.microsoft.com/office/drawing/2014/main" id="{3F084882-E617-6BCC-5C5A-E7E746ACDE1C}"/>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pic>
        <p:nvPicPr>
          <p:cNvPr id="11" name="Picture 10">
            <a:extLst>
              <a:ext uri="{FF2B5EF4-FFF2-40B4-BE49-F238E27FC236}">
                <a16:creationId xmlns:a16="http://schemas.microsoft.com/office/drawing/2014/main" id="{FE8187FD-9937-DBAF-DB57-C89047B80CBE}"/>
              </a:ext>
            </a:extLst>
          </p:cNvPr>
          <p:cNvPicPr>
            <a:picLocks noChangeAspect="1"/>
          </p:cNvPicPr>
          <p:nvPr/>
        </p:nvPicPr>
        <p:blipFill>
          <a:blip r:embed="rId4"/>
          <a:srcRect t="16545" r="5085" b="15652"/>
          <a:stretch>
            <a:fillRect/>
          </a:stretch>
        </p:blipFill>
        <p:spPr>
          <a:xfrm>
            <a:off x="5334000" y="44109"/>
            <a:ext cx="3810000" cy="748393"/>
          </a:xfrm>
          <a:prstGeom prst="rect">
            <a:avLst/>
          </a:prstGeom>
        </p:spPr>
      </p:pic>
    </p:spTree>
    <p:extLst>
      <p:ext uri="{BB962C8B-B14F-4D97-AF65-F5344CB8AC3E}">
        <p14:creationId xmlns:p14="http://schemas.microsoft.com/office/powerpoint/2010/main" val="556187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losing label">
            <a:extLst>
              <a:ext uri="{FF2B5EF4-FFF2-40B4-BE49-F238E27FC236}">
                <a16:creationId xmlns:a16="http://schemas.microsoft.com/office/drawing/2014/main" id="{91101CF9-A873-4FA2-974A-282336FA4784}"/>
              </a:ext>
            </a:extLst>
          </p:cNvPr>
          <p:cNvSpPr>
            <a:spLocks noGrp="1"/>
          </p:cNvSpPr>
          <p:nvPr/>
        </p:nvSpPr>
        <p:spPr>
          <a:xfrm>
            <a:off x="304800" y="1257300"/>
            <a:ext cx="8343900" cy="257175"/>
          </a:xfrm>
          <a:prstGeom prst="rect">
            <a:avLst/>
          </a:prstGeom>
          <a:noFill/>
          <a:ln w="0">
            <a:noFill/>
          </a:ln>
        </p:spPr>
        <p:txBody>
          <a:bodyPr wrap="none" lIns="0" tIns="0" rIns="0" bIns="0" anchor="t">
            <a:noAutofit/>
          </a:bodyPr>
          <a:lstStyle>
            <a:defPPr algn="l">
              <a:defRPr sz="1725" b="1">
                <a:solidFill>
                  <a:srgbClr val="990F1B"/>
                </a:solidFill>
                <a:latin typeface="Arial"/>
                <a:ea typeface="Arial"/>
                <a:cs typeface="Arial"/>
              </a:defRPr>
            </a:defPPr>
          </a:lstStyle>
          <a:p>
            <a:pPr algn="l">
              <a:buNone/>
              <a:defRPr sz="1725" b="1">
                <a:solidFill>
                  <a:srgbClr val="990F1B"/>
                </a:solidFill>
                <a:latin typeface="Arial"/>
                <a:ea typeface="Arial"/>
                <a:cs typeface="Arial"/>
              </a:defRPr>
            </a:pPr>
            <a:r>
              <a:rPr sz="1400" b="1">
                <a:solidFill>
                  <a:srgbClr val="990F1B"/>
                </a:solidFill>
                <a:latin typeface="Arial"/>
                <a:ea typeface="Arial"/>
                <a:cs typeface="Arial"/>
              </a:rPr>
              <a:t>RESEARCH CONTRIBUTION</a:t>
            </a:r>
          </a:p>
        </p:txBody>
      </p:sp>
      <p:sp>
        <p:nvSpPr>
          <p:cNvPr id="9" name="take-home">
            <a:extLst>
              <a:ext uri="{FF2B5EF4-FFF2-40B4-BE49-F238E27FC236}">
                <a16:creationId xmlns:a16="http://schemas.microsoft.com/office/drawing/2014/main" id="{B41809CD-2A44-4820-A791-6B288467BFE4}"/>
              </a:ext>
            </a:extLst>
          </p:cNvPr>
          <p:cNvSpPr>
            <a:spLocks noGrp="1"/>
          </p:cNvSpPr>
          <p:nvPr/>
        </p:nvSpPr>
        <p:spPr>
          <a:xfrm>
            <a:off x="304800" y="1671638"/>
            <a:ext cx="3562350" cy="1092994"/>
          </a:xfrm>
          <a:prstGeom prst="rect">
            <a:avLst/>
          </a:prstGeom>
          <a:noFill/>
          <a:ln w="0">
            <a:noFill/>
          </a:ln>
        </p:spPr>
        <p:txBody>
          <a:bodyPr wrap="none" lIns="0" tIns="0" rIns="0" bIns="0" anchor="t">
            <a:noAutofit/>
          </a:bodyPr>
          <a:lstStyle>
            <a:defPPr algn="l">
              <a:defRPr sz="4650" b="1">
                <a:solidFill>
                  <a:srgbClr val="202D39"/>
                </a:solidFill>
                <a:latin typeface="Arial"/>
                <a:ea typeface="Arial"/>
                <a:cs typeface="Arial"/>
              </a:defRPr>
            </a:defPPr>
          </a:lstStyle>
          <a:p>
            <a:pPr algn="l">
              <a:buNone/>
              <a:defRPr sz="4650" b="1">
                <a:solidFill>
                  <a:srgbClr val="202D39"/>
                </a:solidFill>
                <a:latin typeface="Arial"/>
                <a:ea typeface="Arial"/>
                <a:cs typeface="Arial"/>
              </a:defRPr>
            </a:pPr>
            <a:r>
              <a:rPr sz="2800" b="1" dirty="0">
                <a:solidFill>
                  <a:srgbClr val="202D39"/>
                </a:solidFill>
                <a:latin typeface="Arial"/>
                <a:ea typeface="Arial"/>
                <a:cs typeface="Arial"/>
              </a:rPr>
              <a:t>Clinical guidance</a:t>
            </a:r>
          </a:p>
          <a:p>
            <a:pPr algn="l">
              <a:buNone/>
              <a:defRPr sz="4650" b="1">
                <a:solidFill>
                  <a:srgbClr val="202D39"/>
                </a:solidFill>
                <a:latin typeface="Arial"/>
                <a:ea typeface="Arial"/>
                <a:cs typeface="Arial"/>
              </a:defRPr>
            </a:pPr>
            <a:r>
              <a:rPr sz="2800" b="1" dirty="0">
                <a:solidFill>
                  <a:srgbClr val="202D39"/>
                </a:solidFill>
                <a:latin typeface="Arial"/>
                <a:ea typeface="Arial"/>
                <a:cs typeface="Arial"/>
              </a:rPr>
              <a:t>through language</a:t>
            </a:r>
          </a:p>
        </p:txBody>
      </p:sp>
      <p:sp>
        <p:nvSpPr>
          <p:cNvPr id="10" name="richer input experiment">
            <a:extLst>
              <a:ext uri="{FF2B5EF4-FFF2-40B4-BE49-F238E27FC236}">
                <a16:creationId xmlns:a16="http://schemas.microsoft.com/office/drawing/2014/main" id="{C1442061-C9CA-4A45-913D-23C1D8381318}"/>
              </a:ext>
            </a:extLst>
          </p:cNvPr>
          <p:cNvSpPr>
            <a:spLocks noGrp="1"/>
          </p:cNvSpPr>
          <p:nvPr/>
        </p:nvSpPr>
        <p:spPr>
          <a:xfrm>
            <a:off x="319088" y="2800350"/>
            <a:ext cx="6265069" cy="685800"/>
          </a:xfrm>
          <a:prstGeom prst="rect">
            <a:avLst/>
          </a:prstGeom>
          <a:noFill/>
          <a:ln w="0">
            <a:noFill/>
          </a:ln>
        </p:spPr>
        <p:txBody>
          <a:bodyPr wrap="none" lIns="0" tIns="0" rIns="0" bIns="0" anchor="t">
            <a:noAutofit/>
          </a:bodyPr>
          <a:lstStyle>
            <a:defPPr algn="l">
              <a:defRPr sz="2250" b="0">
                <a:solidFill>
                  <a:srgbClr val="202D39"/>
                </a:solidFill>
                <a:latin typeface="Arial"/>
                <a:ea typeface="Arial"/>
                <a:cs typeface="Arial"/>
              </a:defRPr>
            </a:defPPr>
          </a:lstStyle>
          <a:p>
            <a:pPr algn="l">
              <a:buNone/>
              <a:defRPr sz="2400" b="0">
                <a:solidFill>
                  <a:srgbClr val="202D39"/>
                </a:solidFill>
                <a:latin typeface="Arial"/>
                <a:ea typeface="Arial"/>
                <a:cs typeface="Arial"/>
              </a:defRPr>
            </a:pPr>
            <a:r>
              <a:rPr sz="1688" dirty="0">
                <a:solidFill>
                  <a:srgbClr val="202D39"/>
                </a:solidFill>
                <a:latin typeface="Arial"/>
                <a:ea typeface="Arial"/>
                <a:cs typeface="Arial"/>
              </a:rPr>
              <a:t>An LLM interpretation layer for quantitative MRI,</a:t>
            </a:r>
          </a:p>
          <a:p>
            <a:pPr algn="l">
              <a:buNone/>
              <a:defRPr sz="2400" b="0">
                <a:solidFill>
                  <a:srgbClr val="202D39"/>
                </a:solidFill>
                <a:latin typeface="Arial"/>
                <a:ea typeface="Arial"/>
                <a:cs typeface="Arial"/>
              </a:defRPr>
            </a:pPr>
            <a:r>
              <a:rPr sz="1688" dirty="0">
                <a:solidFill>
                  <a:srgbClr val="202D39"/>
                </a:solidFill>
                <a:latin typeface="Arial"/>
                <a:ea typeface="Arial"/>
                <a:cs typeface="Arial"/>
              </a:rPr>
              <a:t>without task-specific fine-tuning.</a:t>
            </a:r>
          </a:p>
        </p:txBody>
      </p:sp>
      <p:sp>
        <p:nvSpPr>
          <p:cNvPr id="11" name="independent validation">
            <a:extLst>
              <a:ext uri="{FF2B5EF4-FFF2-40B4-BE49-F238E27FC236}">
                <a16:creationId xmlns:a16="http://schemas.microsoft.com/office/drawing/2014/main" id="{E1EC017E-A67F-42A4-9AB1-432E9F9EBA4F}"/>
              </a:ext>
            </a:extLst>
          </p:cNvPr>
          <p:cNvSpPr>
            <a:spLocks noGrp="1"/>
          </p:cNvSpPr>
          <p:nvPr/>
        </p:nvSpPr>
        <p:spPr>
          <a:xfrm>
            <a:off x="319087" y="3790950"/>
            <a:ext cx="6357938" cy="335756"/>
          </a:xfrm>
          <a:prstGeom prst="rect">
            <a:avLst/>
          </a:prstGeom>
          <a:noFill/>
          <a:ln w="0">
            <a:noFill/>
          </a:ln>
        </p:spPr>
        <p:txBody>
          <a:bodyPr wrap="none" lIns="0" tIns="0" rIns="0" bIns="0" anchor="t">
            <a:noAutofit/>
          </a:bodyPr>
          <a:lstStyle>
            <a:defPPr algn="l">
              <a:defRPr sz="2100" b="0">
                <a:solidFill>
                  <a:srgbClr val="566B7B"/>
                </a:solidFill>
                <a:latin typeface="Arial"/>
                <a:ea typeface="Arial"/>
                <a:cs typeface="Arial"/>
              </a:defRPr>
            </a:defPPr>
          </a:lstStyle>
          <a:p>
            <a:pPr algn="l">
              <a:buNone/>
              <a:defRPr sz="2250" b="0">
                <a:solidFill>
                  <a:srgbClr val="566B7B"/>
                </a:solidFill>
                <a:latin typeface="Arial"/>
                <a:ea typeface="Arial"/>
                <a:cs typeface="Arial"/>
              </a:defRPr>
            </a:pPr>
            <a:r>
              <a:rPr sz="1575">
                <a:solidFill>
                  <a:srgbClr val="566B7B"/>
                </a:solidFill>
                <a:latin typeface="Arial"/>
                <a:ea typeface="Arial"/>
                <a:cs typeface="Arial"/>
              </a:rPr>
              <a:t>Next: richer biomarkers and independent validation.</a:t>
            </a:r>
          </a:p>
        </p:txBody>
      </p:sp>
      <p:sp>
        <p:nvSpPr>
          <p:cNvPr id="12" name="author">
            <a:extLst>
              <a:ext uri="{FF2B5EF4-FFF2-40B4-BE49-F238E27FC236}">
                <a16:creationId xmlns:a16="http://schemas.microsoft.com/office/drawing/2014/main" id="{1698A67C-6914-4FDC-89B3-E4E2246C546E}"/>
              </a:ext>
            </a:extLst>
          </p:cNvPr>
          <p:cNvSpPr>
            <a:spLocks noGrp="1"/>
          </p:cNvSpPr>
          <p:nvPr/>
        </p:nvSpPr>
        <p:spPr>
          <a:xfrm>
            <a:off x="319088" y="4429125"/>
            <a:ext cx="4286250" cy="292894"/>
          </a:xfrm>
          <a:prstGeom prst="rect">
            <a:avLst/>
          </a:prstGeom>
          <a:noFill/>
          <a:ln w="0">
            <a:noFill/>
          </a:ln>
        </p:spPr>
        <p:txBody>
          <a:bodyPr wrap="none" lIns="0" tIns="0" rIns="0" bIns="0" anchor="t">
            <a:noAutofit/>
          </a:bodyPr>
          <a:lstStyle>
            <a:defPPr algn="l">
              <a:defRPr sz="2100" b="1">
                <a:solidFill>
                  <a:srgbClr val="202D39"/>
                </a:solidFill>
                <a:latin typeface="Arial"/>
                <a:ea typeface="Arial"/>
                <a:cs typeface="Arial"/>
              </a:defRPr>
            </a:defPPr>
          </a:lstStyle>
          <a:p>
            <a:pPr algn="l">
              <a:buNone/>
              <a:defRPr sz="2100" b="1">
                <a:solidFill>
                  <a:srgbClr val="202D39"/>
                </a:solidFill>
                <a:latin typeface="Arial"/>
                <a:ea typeface="Arial"/>
                <a:cs typeface="Arial"/>
              </a:defRPr>
            </a:pPr>
            <a:r>
              <a:rPr sz="1575" b="1" dirty="0">
                <a:solidFill>
                  <a:srgbClr val="202D39"/>
                </a:solidFill>
                <a:latin typeface="Arial"/>
                <a:ea typeface="Arial"/>
                <a:cs typeface="Arial"/>
              </a:rPr>
              <a:t>Zhuoan Li</a:t>
            </a:r>
          </a:p>
        </p:txBody>
      </p:sp>
      <p:sp>
        <p:nvSpPr>
          <p:cNvPr id="13" name="repository link">
            <a:extLst>
              <a:ext uri="{FF2B5EF4-FFF2-40B4-BE49-F238E27FC236}">
                <a16:creationId xmlns:a16="http://schemas.microsoft.com/office/drawing/2014/main" id="{4A882EEE-798B-431C-9C1B-4F2E8581945C}"/>
              </a:ext>
            </a:extLst>
          </p:cNvPr>
          <p:cNvSpPr>
            <a:spLocks noGrp="1"/>
          </p:cNvSpPr>
          <p:nvPr/>
        </p:nvSpPr>
        <p:spPr>
          <a:xfrm>
            <a:off x="319088" y="4714875"/>
            <a:ext cx="3319462" cy="219075"/>
          </a:xfrm>
          <a:prstGeom prst="rect">
            <a:avLst/>
          </a:prstGeom>
          <a:noFill/>
          <a:ln w="0">
            <a:noFill/>
          </a:ln>
        </p:spPr>
        <p:txBody>
          <a:bodyPr wrap="none" lIns="0" tIns="0" rIns="0" bIns="0" anchor="t">
            <a:noAutofit/>
          </a:bodyPr>
          <a:lstStyle>
            <a:defPPr algn="l">
              <a:defRPr sz="1650" b="0">
                <a:solidFill>
                  <a:srgbClr val="990F1B"/>
                </a:solidFill>
                <a:latin typeface="Arial"/>
                <a:ea typeface="Arial"/>
                <a:cs typeface="Arial"/>
              </a:defRPr>
            </a:defPPr>
          </a:lstStyle>
          <a:p>
            <a:pPr algn="l">
              <a:buNone/>
              <a:defRPr sz="1650" b="0">
                <a:solidFill>
                  <a:srgbClr val="990F1B"/>
                </a:solidFill>
                <a:latin typeface="Arial"/>
                <a:ea typeface="Arial"/>
                <a:cs typeface="Arial"/>
              </a:defRPr>
            </a:pPr>
            <a:r>
              <a:rPr sz="1238" dirty="0" err="1">
                <a:solidFill>
                  <a:srgbClr val="990F1B"/>
                </a:solidFill>
                <a:latin typeface="Arial"/>
                <a:ea typeface="Arial"/>
                <a:cs typeface="Arial"/>
              </a:rPr>
              <a:t>github.com</a:t>
            </a:r>
            <a:r>
              <a:rPr sz="1238" dirty="0">
                <a:solidFill>
                  <a:srgbClr val="990F1B"/>
                </a:solidFill>
                <a:latin typeface="Arial"/>
                <a:ea typeface="Arial"/>
                <a:cs typeface="Arial"/>
              </a:rPr>
              <a:t>/</a:t>
            </a:r>
            <a:r>
              <a:rPr sz="1238" dirty="0" err="1">
                <a:solidFill>
                  <a:srgbClr val="990F1B"/>
                </a:solidFill>
                <a:latin typeface="Arial"/>
                <a:ea typeface="Arial"/>
                <a:cs typeface="Arial"/>
              </a:rPr>
              <a:t>zhuoanli</a:t>
            </a:r>
            <a:r>
              <a:rPr sz="1238" dirty="0">
                <a:solidFill>
                  <a:srgbClr val="990F1B"/>
                </a:solidFill>
                <a:latin typeface="Arial"/>
                <a:ea typeface="Arial"/>
                <a:cs typeface="Arial"/>
              </a:rPr>
              <a:t>/</a:t>
            </a:r>
            <a:r>
              <a:rPr sz="1238" dirty="0" err="1">
                <a:solidFill>
                  <a:srgbClr val="990F1B"/>
                </a:solidFill>
                <a:latin typeface="Arial"/>
                <a:ea typeface="Arial"/>
                <a:cs typeface="Arial"/>
              </a:rPr>
              <a:t>llm</a:t>
            </a:r>
            <a:r>
              <a:rPr sz="1238" dirty="0">
                <a:solidFill>
                  <a:srgbClr val="990F1B"/>
                </a:solidFill>
                <a:latin typeface="Arial"/>
                <a:ea typeface="Arial"/>
                <a:cs typeface="Arial"/>
              </a:rPr>
              <a:t>-cardiac-pathology</a:t>
            </a:r>
          </a:p>
        </p:txBody>
      </p:sp>
      <p:pic>
        <p:nvPicPr>
          <p:cNvPr id="14" name="Picture 13">
            <a:extLst>
              <a:ext uri="{FF2B5EF4-FFF2-40B4-BE49-F238E27FC236}">
                <a16:creationId xmlns:a16="http://schemas.microsoft.com/office/drawing/2014/main" id="{2E6267A5-8CA9-4F6F-A27A-8257754A0BAF}"/>
              </a:ext>
            </a:extLst>
          </p:cNvPr>
          <p:cNvPicPr>
            <a:picLocks noChangeAspect="1"/>
          </p:cNvPicPr>
          <p:nvPr/>
        </p:nvPicPr>
        <p:blipFill>
          <a:blip r:embed="rId3"/>
          <a:stretch/>
        </p:blipFill>
        <p:spPr>
          <a:xfrm>
            <a:off x="6910387" y="3181350"/>
            <a:ext cx="1614488" cy="1614488"/>
          </a:xfrm>
          <a:prstGeom prst="rect">
            <a:avLst/>
          </a:prstGeom>
        </p:spPr>
      </p:pic>
      <p:sp>
        <p:nvSpPr>
          <p:cNvPr id="15" name="repository caption">
            <a:extLst>
              <a:ext uri="{FF2B5EF4-FFF2-40B4-BE49-F238E27FC236}">
                <a16:creationId xmlns:a16="http://schemas.microsoft.com/office/drawing/2014/main" id="{DF0602DC-B144-4DB0-BF44-303F6E14E859}"/>
              </a:ext>
            </a:extLst>
          </p:cNvPr>
          <p:cNvSpPr>
            <a:spLocks noGrp="1"/>
          </p:cNvSpPr>
          <p:nvPr/>
        </p:nvSpPr>
        <p:spPr>
          <a:xfrm>
            <a:off x="6794823" y="4698207"/>
            <a:ext cx="1785938" cy="250031"/>
          </a:xfrm>
          <a:prstGeom prst="rect">
            <a:avLst/>
          </a:prstGeom>
          <a:noFill/>
          <a:ln w="0">
            <a:noFill/>
          </a:ln>
        </p:spPr>
        <p:txBody>
          <a:bodyPr wrap="none" lIns="0" tIns="0" rIns="0" bIns="0" anchor="t">
            <a:noAutofit/>
          </a:bodyPr>
          <a:lstStyle>
            <a:defPPr algn="ctr">
              <a:defRPr sz="1650" b="0">
                <a:solidFill>
                  <a:srgbClr val="566B7B"/>
                </a:solidFill>
                <a:latin typeface="Arial"/>
                <a:ea typeface="Arial"/>
                <a:cs typeface="Arial"/>
              </a:defRPr>
            </a:defPPr>
          </a:lstStyle>
          <a:p>
            <a:pPr algn="ctr">
              <a:buNone/>
              <a:defRPr sz="1650" b="0">
                <a:solidFill>
                  <a:srgbClr val="566B7B"/>
                </a:solidFill>
                <a:latin typeface="Arial"/>
                <a:ea typeface="Arial"/>
                <a:cs typeface="Arial"/>
              </a:defRPr>
            </a:pPr>
            <a:r>
              <a:rPr lang="en-US" sz="1238" dirty="0">
                <a:solidFill>
                  <a:srgbClr val="566B7B"/>
                </a:solidFill>
                <a:latin typeface="Arial"/>
                <a:ea typeface="Arial"/>
                <a:cs typeface="Arial"/>
              </a:rPr>
              <a:t>Project page</a:t>
            </a:r>
            <a:endParaRPr sz="1238" dirty="0">
              <a:solidFill>
                <a:srgbClr val="566B7B"/>
              </a:solidFill>
              <a:latin typeface="Arial"/>
              <a:ea typeface="Arial"/>
              <a:cs typeface="Arial"/>
            </a:endParaRPr>
          </a:p>
        </p:txBody>
      </p:sp>
      <p:pic>
        <p:nvPicPr>
          <p:cNvPr id="17" name="Picture 16">
            <a:extLst>
              <a:ext uri="{FF2B5EF4-FFF2-40B4-BE49-F238E27FC236}">
                <a16:creationId xmlns:a16="http://schemas.microsoft.com/office/drawing/2014/main" id="{C79BB81F-E0E5-03D8-38B4-890F453528DC}"/>
              </a:ext>
            </a:extLst>
          </p:cNvPr>
          <p:cNvPicPr>
            <a:picLocks noChangeAspect="1"/>
          </p:cNvPicPr>
          <p:nvPr/>
        </p:nvPicPr>
        <p:blipFill>
          <a:blip r:embed="rId4"/>
          <a:stretch/>
        </p:blipFill>
        <p:spPr>
          <a:xfrm>
            <a:off x="29028" y="44110"/>
            <a:ext cx="3190015" cy="630238"/>
          </a:xfrm>
          <a:prstGeom prst="rect">
            <a:avLst/>
          </a:prstGeom>
        </p:spPr>
      </p:pic>
      <p:sp>
        <p:nvSpPr>
          <p:cNvPr id="18" name="SMRA red header rule">
            <a:extLst>
              <a:ext uri="{FF2B5EF4-FFF2-40B4-BE49-F238E27FC236}">
                <a16:creationId xmlns:a16="http://schemas.microsoft.com/office/drawing/2014/main" id="{1CD8C0C2-B0A2-8B86-3F41-97691756878D}"/>
              </a:ext>
            </a:extLst>
          </p:cNvPr>
          <p:cNvSpPr>
            <a:spLocks noGrp="1"/>
          </p:cNvSpPr>
          <p:nvPr/>
        </p:nvSpPr>
        <p:spPr>
          <a:xfrm>
            <a:off x="0" y="807243"/>
            <a:ext cx="8743950" cy="81439"/>
          </a:xfrm>
          <a:prstGeom prst="rect">
            <a:avLst/>
          </a:prstGeom>
          <a:solidFill>
            <a:srgbClr val="990F1B"/>
          </a:solidFill>
          <a:ln w="0">
            <a:noFill/>
          </a:ln>
        </p:spPr>
        <p:txBody>
          <a:bodyPr/>
          <a:lstStyle/>
          <a:p>
            <a:endParaRPr lang="en-US"/>
          </a:p>
        </p:txBody>
      </p:sp>
      <p:sp>
        <p:nvSpPr>
          <p:cNvPr id="19" name="Purdue gold header accent">
            <a:extLst>
              <a:ext uri="{FF2B5EF4-FFF2-40B4-BE49-F238E27FC236}">
                <a16:creationId xmlns:a16="http://schemas.microsoft.com/office/drawing/2014/main" id="{9738E1D1-CD05-CA15-6989-38709F73F869}"/>
              </a:ext>
            </a:extLst>
          </p:cNvPr>
          <p:cNvSpPr>
            <a:spLocks noGrp="1"/>
          </p:cNvSpPr>
          <p:nvPr/>
        </p:nvSpPr>
        <p:spPr>
          <a:xfrm>
            <a:off x="7815655" y="807243"/>
            <a:ext cx="1325880" cy="81439"/>
          </a:xfrm>
          <a:prstGeom prst="rect">
            <a:avLst/>
          </a:prstGeom>
          <a:solidFill>
            <a:srgbClr val="CFB991"/>
          </a:solidFill>
          <a:ln w="0">
            <a:noFill/>
          </a:ln>
        </p:spPr>
        <p:txBody>
          <a:bodyPr/>
          <a:lstStyle/>
          <a:p>
            <a:endParaRPr lang="en-US"/>
          </a:p>
        </p:txBody>
      </p:sp>
      <p:pic>
        <p:nvPicPr>
          <p:cNvPr id="20" name="Picture 19">
            <a:extLst>
              <a:ext uri="{FF2B5EF4-FFF2-40B4-BE49-F238E27FC236}">
                <a16:creationId xmlns:a16="http://schemas.microsoft.com/office/drawing/2014/main" id="{987DAAC0-3E2D-C980-920D-22571796C140}"/>
              </a:ext>
            </a:extLst>
          </p:cNvPr>
          <p:cNvPicPr>
            <a:picLocks noChangeAspect="1"/>
          </p:cNvPicPr>
          <p:nvPr/>
        </p:nvPicPr>
        <p:blipFill>
          <a:blip r:embed="rId5"/>
          <a:srcRect t="16545" r="5085" b="15652"/>
          <a:stretch>
            <a:fillRect/>
          </a:stretch>
        </p:blipFill>
        <p:spPr>
          <a:xfrm>
            <a:off x="5334000" y="44109"/>
            <a:ext cx="3810000" cy="748393"/>
          </a:xfrm>
          <a:prstGeom prst="rect">
            <a:avLst/>
          </a:prstGeom>
        </p:spPr>
      </p:pic>
      <p:sp>
        <p:nvSpPr>
          <p:cNvPr id="21" name="Purdue gold header accent">
            <a:extLst>
              <a:ext uri="{FF2B5EF4-FFF2-40B4-BE49-F238E27FC236}">
                <a16:creationId xmlns:a16="http://schemas.microsoft.com/office/drawing/2014/main" id="{029427FD-1557-3AFE-BB5B-53F1F425B00B}"/>
              </a:ext>
            </a:extLst>
          </p:cNvPr>
          <p:cNvSpPr>
            <a:spLocks noGrp="1"/>
          </p:cNvSpPr>
          <p:nvPr/>
        </p:nvSpPr>
        <p:spPr>
          <a:xfrm>
            <a:off x="7858125" y="842963"/>
            <a:ext cx="885825" cy="21431"/>
          </a:xfrm>
          <a:prstGeom prst="rect">
            <a:avLst/>
          </a:prstGeom>
          <a:solidFill>
            <a:srgbClr val="CFB991"/>
          </a:solidFill>
          <a:ln w="0">
            <a:noFill/>
          </a:ln>
        </p:spPr>
        <p:txBody>
          <a:bodyPr/>
          <a:lstStyle/>
          <a:p>
            <a:endParaRPr lang="en-US"/>
          </a:p>
        </p:txBody>
      </p:sp>
      <p:grpSp>
        <p:nvGrpSpPr>
          <p:cNvPr id="23" name="Group 22">
            <a:extLst>
              <a:ext uri="{FF2B5EF4-FFF2-40B4-BE49-F238E27FC236}">
                <a16:creationId xmlns:a16="http://schemas.microsoft.com/office/drawing/2014/main" id="{9C0CD9C8-DA1B-74FF-B4BB-7FAC24457553}"/>
              </a:ext>
            </a:extLst>
          </p:cNvPr>
          <p:cNvGrpSpPr/>
          <p:nvPr/>
        </p:nvGrpSpPr>
        <p:grpSpPr>
          <a:xfrm>
            <a:off x="6299122" y="1202505"/>
            <a:ext cx="2751862" cy="1826445"/>
            <a:chOff x="-388492" y="3404763"/>
            <a:chExt cx="2644720" cy="1783363"/>
          </a:xfrm>
        </p:grpSpPr>
        <p:pic>
          <p:nvPicPr>
            <p:cNvPr id="24" name="Picture 23">
              <a:extLst>
                <a:ext uri="{FF2B5EF4-FFF2-40B4-BE49-F238E27FC236}">
                  <a16:creationId xmlns:a16="http://schemas.microsoft.com/office/drawing/2014/main" id="{B4AF1D34-66AC-FB68-A1D2-356E929DDE9C}"/>
                </a:ext>
              </a:extLst>
            </p:cNvPr>
            <p:cNvPicPr>
              <a:picLocks/>
            </p:cNvPicPr>
            <p:nvPr/>
          </p:nvPicPr>
          <p:blipFill>
            <a:blip r:embed="rId6"/>
            <a:stretch>
              <a:fillRect/>
            </a:stretch>
          </p:blipFill>
          <p:spPr>
            <a:xfrm>
              <a:off x="-388492" y="3404763"/>
              <a:ext cx="1318197" cy="1339247"/>
            </a:xfrm>
            <a:prstGeom prst="rect">
              <a:avLst/>
            </a:prstGeom>
          </p:spPr>
        </p:pic>
        <p:sp>
          <p:nvSpPr>
            <p:cNvPr id="25" name="TextBox 24">
              <a:extLst>
                <a:ext uri="{FF2B5EF4-FFF2-40B4-BE49-F238E27FC236}">
                  <a16:creationId xmlns:a16="http://schemas.microsoft.com/office/drawing/2014/main" id="{BB16EF6E-9D2A-5F17-186E-DA847DE4884A}"/>
                </a:ext>
              </a:extLst>
            </p:cNvPr>
            <p:cNvSpPr txBox="1"/>
            <p:nvPr/>
          </p:nvSpPr>
          <p:spPr>
            <a:xfrm>
              <a:off x="-364006" y="4677248"/>
              <a:ext cx="2620234" cy="510878"/>
            </a:xfrm>
            <a:prstGeom prst="rect">
              <a:avLst/>
            </a:prstGeom>
            <a:noFill/>
          </p:spPr>
          <p:txBody>
            <a:bodyPr wrap="square" rtlCol="0">
              <a:spAutoFit/>
            </a:bodyPr>
            <a:lstStyle/>
            <a:p>
              <a:pPr algn="ctr"/>
              <a:r>
                <a:rPr lang="en-US" sz="1400" b="1" dirty="0">
                  <a:solidFill>
                    <a:srgbClr val="000000"/>
                  </a:solidFill>
                </a:rPr>
                <a:t>Welcome</a:t>
              </a:r>
              <a:r>
                <a:rPr lang="zh-CN" altLang="en-US" sz="1400" b="1" dirty="0">
                  <a:solidFill>
                    <a:srgbClr val="000000"/>
                  </a:solidFill>
                </a:rPr>
                <a:t> </a:t>
              </a:r>
              <a:r>
                <a:rPr lang="en-US" altLang="zh-CN" sz="1400" b="1" dirty="0">
                  <a:solidFill>
                    <a:srgbClr val="000000"/>
                  </a:solidFill>
                </a:rPr>
                <a:t>to</a:t>
              </a:r>
              <a:r>
                <a:rPr lang="zh-CN" altLang="en-US" sz="1400" b="1" dirty="0">
                  <a:solidFill>
                    <a:srgbClr val="000000"/>
                  </a:solidFill>
                </a:rPr>
                <a:t> </a:t>
              </a:r>
              <a:r>
                <a:rPr lang="en-US" altLang="zh-CN" sz="1400" b="1" dirty="0">
                  <a:solidFill>
                    <a:srgbClr val="000000"/>
                  </a:solidFill>
                </a:rPr>
                <a:t>connect</a:t>
              </a:r>
              <a:r>
                <a:rPr lang="zh-CN" altLang="en-US" sz="1400" b="1" dirty="0">
                  <a:solidFill>
                    <a:srgbClr val="000000"/>
                  </a:solidFill>
                </a:rPr>
                <a:t> </a:t>
              </a:r>
              <a:r>
                <a:rPr lang="en-US" altLang="zh-CN" sz="1400" b="1" dirty="0">
                  <a:solidFill>
                    <a:srgbClr val="000000"/>
                  </a:solidFill>
                </a:rPr>
                <a:t>and discuss interesting research</a:t>
              </a:r>
              <a:r>
                <a:rPr lang="zh-CN" altLang="en-US" sz="1400" b="1" dirty="0">
                  <a:solidFill>
                    <a:srgbClr val="000000"/>
                  </a:solidFill>
                </a:rPr>
                <a:t>！</a:t>
              </a:r>
              <a:endParaRPr lang="en-US" sz="1400" b="1" dirty="0">
                <a:solidFill>
                  <a:srgbClr val="000000"/>
                </a:solidFill>
              </a:endParaRPr>
            </a:p>
          </p:txBody>
        </p:sp>
        <p:pic>
          <p:nvPicPr>
            <p:cNvPr id="26" name="Picture 25">
              <a:extLst>
                <a:ext uri="{FF2B5EF4-FFF2-40B4-BE49-F238E27FC236}">
                  <a16:creationId xmlns:a16="http://schemas.microsoft.com/office/drawing/2014/main" id="{D1140244-DD64-7FCA-8F45-A19460A3DB86}"/>
                </a:ext>
              </a:extLst>
            </p:cNvPr>
            <p:cNvPicPr>
              <a:picLocks/>
            </p:cNvPicPr>
            <p:nvPr/>
          </p:nvPicPr>
          <p:blipFill>
            <a:blip r:embed="rId7"/>
            <a:stretch>
              <a:fillRect/>
            </a:stretch>
          </p:blipFill>
          <p:spPr>
            <a:xfrm>
              <a:off x="869290" y="3404763"/>
              <a:ext cx="1318197" cy="1339247"/>
            </a:xfrm>
            <a:prstGeom prst="rect">
              <a:avLst/>
            </a:prstGeom>
          </p:spPr>
        </p:pic>
      </p:grpSp>
      <p:sp>
        <p:nvSpPr>
          <p:cNvPr id="27" name="author">
            <a:extLst>
              <a:ext uri="{FF2B5EF4-FFF2-40B4-BE49-F238E27FC236}">
                <a16:creationId xmlns:a16="http://schemas.microsoft.com/office/drawing/2014/main" id="{B944C768-21CA-A56A-015C-EA89BAA0D0C1}"/>
              </a:ext>
            </a:extLst>
          </p:cNvPr>
          <p:cNvSpPr>
            <a:spLocks noGrp="1"/>
          </p:cNvSpPr>
          <p:nvPr/>
        </p:nvSpPr>
        <p:spPr>
          <a:xfrm>
            <a:off x="3462338" y="4429125"/>
            <a:ext cx="4286250" cy="292894"/>
          </a:xfrm>
          <a:prstGeom prst="rect">
            <a:avLst/>
          </a:prstGeom>
          <a:noFill/>
          <a:ln w="0">
            <a:noFill/>
          </a:ln>
        </p:spPr>
        <p:txBody>
          <a:bodyPr wrap="none" lIns="0" tIns="0" rIns="0" bIns="0" anchor="t">
            <a:noAutofit/>
          </a:bodyPr>
          <a:lstStyle>
            <a:defPPr algn="l">
              <a:defRPr sz="2100" b="1">
                <a:solidFill>
                  <a:srgbClr val="202D39"/>
                </a:solidFill>
                <a:latin typeface="Arial"/>
                <a:ea typeface="Arial"/>
                <a:cs typeface="Arial"/>
              </a:defRPr>
            </a:defPPr>
          </a:lstStyle>
          <a:p>
            <a:pPr algn="l">
              <a:buNone/>
              <a:defRPr sz="2100" b="1">
                <a:solidFill>
                  <a:srgbClr val="202D39"/>
                </a:solidFill>
                <a:latin typeface="Arial"/>
                <a:ea typeface="Arial"/>
                <a:cs typeface="Arial"/>
              </a:defRPr>
            </a:pPr>
            <a:r>
              <a:rPr lang="en-US" sz="1575" b="1" dirty="0">
                <a:solidFill>
                  <a:srgbClr val="202D39"/>
                </a:solidFill>
                <a:latin typeface="Arial"/>
                <a:ea typeface="Arial"/>
                <a:cs typeface="Arial"/>
              </a:rPr>
              <a:t>Contact</a:t>
            </a:r>
            <a:endParaRPr sz="1575" b="1" dirty="0">
              <a:solidFill>
                <a:srgbClr val="202D39"/>
              </a:solidFill>
              <a:latin typeface="Arial"/>
              <a:ea typeface="Arial"/>
              <a:cs typeface="Arial"/>
            </a:endParaRPr>
          </a:p>
        </p:txBody>
      </p:sp>
      <p:sp>
        <p:nvSpPr>
          <p:cNvPr id="28" name="repository link">
            <a:extLst>
              <a:ext uri="{FF2B5EF4-FFF2-40B4-BE49-F238E27FC236}">
                <a16:creationId xmlns:a16="http://schemas.microsoft.com/office/drawing/2014/main" id="{A144AD04-EE8A-F97E-0574-315EDAD27915}"/>
              </a:ext>
            </a:extLst>
          </p:cNvPr>
          <p:cNvSpPr>
            <a:spLocks noGrp="1"/>
          </p:cNvSpPr>
          <p:nvPr/>
        </p:nvSpPr>
        <p:spPr>
          <a:xfrm>
            <a:off x="3367088" y="4714875"/>
            <a:ext cx="3319462" cy="219075"/>
          </a:xfrm>
          <a:prstGeom prst="rect">
            <a:avLst/>
          </a:prstGeom>
          <a:noFill/>
          <a:ln w="0">
            <a:noFill/>
          </a:ln>
        </p:spPr>
        <p:txBody>
          <a:bodyPr wrap="none" lIns="0" tIns="0" rIns="0" bIns="0" anchor="t">
            <a:noAutofit/>
          </a:bodyPr>
          <a:lstStyle>
            <a:defPPr algn="l">
              <a:defRPr sz="1650" b="0">
                <a:solidFill>
                  <a:srgbClr val="990F1B"/>
                </a:solidFill>
                <a:latin typeface="Arial"/>
                <a:ea typeface="Arial"/>
                <a:cs typeface="Arial"/>
              </a:defRPr>
            </a:defPPr>
          </a:lstStyle>
          <a:p>
            <a:pPr algn="l">
              <a:buNone/>
              <a:defRPr sz="1650" b="0">
                <a:solidFill>
                  <a:srgbClr val="990F1B"/>
                </a:solidFill>
                <a:latin typeface="Arial"/>
                <a:ea typeface="Arial"/>
                <a:cs typeface="Arial"/>
              </a:defRPr>
            </a:pPr>
            <a:r>
              <a:rPr lang="en-US" sz="1238" dirty="0">
                <a:solidFill>
                  <a:srgbClr val="990F1B"/>
                </a:solidFill>
                <a:latin typeface="Arial"/>
                <a:ea typeface="Arial"/>
                <a:cs typeface="Arial"/>
              </a:rPr>
              <a:t>li4533@purdue.edu; zhuoanli07@gmail.com</a:t>
            </a:r>
            <a:endParaRPr sz="1238" dirty="0">
              <a:solidFill>
                <a:srgbClr val="990F1B"/>
              </a:solidFill>
              <a:latin typeface="Arial"/>
              <a:ea typeface="Arial"/>
              <a:cs typeface="Arial"/>
            </a:endParaRPr>
          </a:p>
        </p:txBody>
      </p:sp>
    </p:spTree>
    <p:extLst>
      <p:ext uri="{BB962C8B-B14F-4D97-AF65-F5344CB8AC3E}">
        <p14:creationId xmlns:p14="http://schemas.microsoft.com/office/powerpoint/2010/main" val="2055711420"/>
      </p:ext>
    </p:extLst>
  </p:cSld>
  <p:clrMapOvr>
    <a:masterClrMapping/>
  </p:clrMapOvr>
</p:sld>
</file>

<file path=ppt/theme/theme1.xml><?xml version="1.0" encoding="utf-8"?>
<a:theme xmlns:a="http://schemas.openxmlformats.org/drawingml/2006/main" name="1_Office Theme">
  <a:themeElements>
    <a:clrScheme name="2014 Style">
      <a:dk1>
        <a:srgbClr val="00B05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a:gsLst>
            <a:gs pos="50000">
              <a:schemeClr val="bg1"/>
            </a:gs>
            <a:gs pos="100000">
              <a:srgbClr val="C00000"/>
            </a:gs>
            <a:gs pos="0">
              <a:schemeClr val="tx1">
                <a:lumMod val="50000"/>
              </a:schemeClr>
            </a:gs>
          </a:gsLst>
          <a:path path="circle">
            <a:fillToRect r="100000" b="100000"/>
          </a:path>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42AF29-8513-E743-AB98-0FAFB446770D}">
  <we:reference id="WA200010001" version="1.0.0.1" store="Omex" storeType="OMEX"/>
  <we:alternateReferences>
    <we:reference id="WA200010001" version="1.0.0.1" store="WA200010001" storeType="OMEX"/>
  </we:alternateReferences>
  <we:properties>
    <we:property name="claude.fileId" value="&quot;174e1c2f-769f-4bea-8546-87629ac5212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Multi12</Template>
  <TotalTime>16571</TotalTime>
  <Words>1531</Words>
  <Application>Microsoft Macintosh PowerPoint</Application>
  <PresentationFormat>On-screen Show (16:9)</PresentationFormat>
  <Paragraphs>161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Declaration of Relevant Financial Interests or Relationships</dc:title>
  <dc:creator>Sally S. Moran</dc:creator>
  <cp:lastModifiedBy>Li, Zhuoan</cp:lastModifiedBy>
  <cp:revision>235</cp:revision>
  <dcterms:created xsi:type="dcterms:W3CDTF">2012-04-13T14:33:19Z</dcterms:created>
  <dcterms:modified xsi:type="dcterms:W3CDTF">2026-10-17T19:03:18Z</dcterms:modified>
</cp:coreProperties>
</file>